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6858000" cy="9144000"/>
  <p:embeddedFontLst>
    <p:embeddedFont>
      <p:font typeface="DM Sans Medium"/>
      <p:regular r:id="rId19"/>
      <p:bold r:id="rId20"/>
      <p:italic r:id="rId21"/>
      <p:boldItalic r:id="rId22"/>
    </p:embeddedFont>
    <p:embeddedFont>
      <p:font typeface="Urbanist SemiBold"/>
      <p:regular r:id="rId23"/>
      <p:bold r:id="rId24"/>
      <p:italic r:id="rId25"/>
      <p:boldItalic r:id="rId26"/>
    </p:embeddedFont>
    <p:embeddedFont>
      <p:font typeface="Urbanist"/>
      <p:regular r:id="rId27"/>
      <p:bold r:id="rId28"/>
      <p:italic r:id="rId29"/>
      <p:boldItalic r:id="rId30"/>
    </p:embeddedFont>
    <p:embeddedFont>
      <p:font typeface="DM Sans SemiBold"/>
      <p:regular r:id="rId31"/>
      <p:bold r:id="rId32"/>
      <p:italic r:id="rId33"/>
      <p:boldItalic r:id="rId34"/>
    </p:embeddedFont>
    <p:embeddedFont>
      <p:font typeface="Urbanist ExtraBold"/>
      <p:bold r:id="rId35"/>
      <p:boldItalic r:id="rId36"/>
    </p:embeddedFont>
    <p:embeddedFont>
      <p:font typeface="DM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7B19D3-B1CC-422A-8D93-38F71FFDB951}">
  <a:tblStyle styleId="{487B19D3-B1CC-422A-8D93-38F71FFDB95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boldItalic.fntdata"/><Relationship Id="rId20" Type="http://schemas.openxmlformats.org/officeDocument/2006/relationships/font" Target="fonts/DMSansMedium-bold.fntdata"/><Relationship Id="rId22" Type="http://schemas.openxmlformats.org/officeDocument/2006/relationships/font" Target="fonts/DMSansMedium-boldItalic.fntdata"/><Relationship Id="rId21" Type="http://schemas.openxmlformats.org/officeDocument/2006/relationships/font" Target="fonts/DMSansMedium-italic.fntdata"/><Relationship Id="rId24" Type="http://schemas.openxmlformats.org/officeDocument/2006/relationships/font" Target="fonts/UrbanistSemiBold-bold.fntdata"/><Relationship Id="rId23" Type="http://schemas.openxmlformats.org/officeDocument/2006/relationships/font" Target="fonts/Urbanist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UrbanistSemiBold-boldItalic.fntdata"/><Relationship Id="rId25" Type="http://schemas.openxmlformats.org/officeDocument/2006/relationships/font" Target="fonts/UrbanistSemiBold-italic.fntdata"/><Relationship Id="rId28" Type="http://schemas.openxmlformats.org/officeDocument/2006/relationships/font" Target="fonts/Urbanist-bold.fntdata"/><Relationship Id="rId27" Type="http://schemas.openxmlformats.org/officeDocument/2006/relationships/font" Target="fonts/Urbanis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Urbanist-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MSansSemiBold-regular.fntdata"/><Relationship Id="rId30" Type="http://schemas.openxmlformats.org/officeDocument/2006/relationships/font" Target="fonts/Urbanist-boldItalic.fntdata"/><Relationship Id="rId11" Type="http://schemas.openxmlformats.org/officeDocument/2006/relationships/slide" Target="slides/slide5.xml"/><Relationship Id="rId33" Type="http://schemas.openxmlformats.org/officeDocument/2006/relationships/font" Target="fonts/DMSansSemiBold-italic.fntdata"/><Relationship Id="rId10" Type="http://schemas.openxmlformats.org/officeDocument/2006/relationships/slide" Target="slides/slide4.xml"/><Relationship Id="rId32" Type="http://schemas.openxmlformats.org/officeDocument/2006/relationships/font" Target="fonts/DMSansSemiBold-bold.fntdata"/><Relationship Id="rId13" Type="http://schemas.openxmlformats.org/officeDocument/2006/relationships/slide" Target="slides/slide7.xml"/><Relationship Id="rId35" Type="http://schemas.openxmlformats.org/officeDocument/2006/relationships/font" Target="fonts/UrbanistExtraBold-bold.fntdata"/><Relationship Id="rId12" Type="http://schemas.openxmlformats.org/officeDocument/2006/relationships/slide" Target="slides/slide6.xml"/><Relationship Id="rId34" Type="http://schemas.openxmlformats.org/officeDocument/2006/relationships/font" Target="fonts/DMSansSemiBold-boldItalic.fntdata"/><Relationship Id="rId15" Type="http://schemas.openxmlformats.org/officeDocument/2006/relationships/slide" Target="slides/slide9.xml"/><Relationship Id="rId37" Type="http://schemas.openxmlformats.org/officeDocument/2006/relationships/font" Target="fonts/DMSans-regular.fntdata"/><Relationship Id="rId14" Type="http://schemas.openxmlformats.org/officeDocument/2006/relationships/slide" Target="slides/slide8.xml"/><Relationship Id="rId36" Type="http://schemas.openxmlformats.org/officeDocument/2006/relationships/font" Target="fonts/UrbanistExtraBold-boldItalic.fntdata"/><Relationship Id="rId17" Type="http://schemas.openxmlformats.org/officeDocument/2006/relationships/slide" Target="slides/slide11.xml"/><Relationship Id="rId39" Type="http://schemas.openxmlformats.org/officeDocument/2006/relationships/font" Target="fonts/DMSans-italic.fntdata"/><Relationship Id="rId16" Type="http://schemas.openxmlformats.org/officeDocument/2006/relationships/slide" Target="slides/slide10.xml"/><Relationship Id="rId38" Type="http://schemas.openxmlformats.org/officeDocument/2006/relationships/font" Target="fonts/DMSans-bold.fntdata"/><Relationship Id="rId19" Type="http://schemas.openxmlformats.org/officeDocument/2006/relationships/font" Target="fonts/DMSansMedium-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4.png"/><Relationship Id="rId6" Type="http://schemas.openxmlformats.org/officeDocument/2006/relationships/image" Target="../media/image17.png"/></Relationships>
</file>

<file path=ppt/slides/_rels/slide3.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10.png"/><Relationship Id="rId13" Type="http://schemas.openxmlformats.org/officeDocument/2006/relationships/image" Target="../media/image36.png"/><Relationship Id="rId12"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4.png"/><Relationship Id="rId14" Type="http://schemas.openxmlformats.org/officeDocument/2006/relationships/image" Target="../media/image7.png"/><Relationship Id="rId5" Type="http://schemas.openxmlformats.org/officeDocument/2006/relationships/image" Target="../media/image23.png"/><Relationship Id="rId6" Type="http://schemas.openxmlformats.org/officeDocument/2006/relationships/image" Target="../media/image13.png"/><Relationship Id="rId7" Type="http://schemas.openxmlformats.org/officeDocument/2006/relationships/image" Target="../media/image11.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20.png"/><Relationship Id="rId13" Type="http://schemas.openxmlformats.org/officeDocument/2006/relationships/image" Target="../media/image32.png"/><Relationship Id="rId12" Type="http://schemas.openxmlformats.org/officeDocument/2006/relationships/image" Target="../media/image24.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5.png"/><Relationship Id="rId9" Type="http://schemas.openxmlformats.org/officeDocument/2006/relationships/image" Target="../media/image19.png"/><Relationship Id="rId15" Type="http://schemas.openxmlformats.org/officeDocument/2006/relationships/image" Target="../media/image27.png"/><Relationship Id="rId14" Type="http://schemas.openxmlformats.org/officeDocument/2006/relationships/image" Target="../media/image48.png"/><Relationship Id="rId17" Type="http://schemas.openxmlformats.org/officeDocument/2006/relationships/image" Target="../media/image30.png"/><Relationship Id="rId16"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28.png"/><Relationship Id="rId7" Type="http://schemas.openxmlformats.org/officeDocument/2006/relationships/image" Target="../media/image18.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1" Type="http://schemas.openxmlformats.org/officeDocument/2006/relationships/image" Target="../media/image49.png"/><Relationship Id="rId10" Type="http://schemas.openxmlformats.org/officeDocument/2006/relationships/image" Target="../media/image35.png"/><Relationship Id="rId12"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62.png"/><Relationship Id="rId9" Type="http://schemas.openxmlformats.org/officeDocument/2006/relationships/image" Target="../media/image31.png"/><Relationship Id="rId5" Type="http://schemas.openxmlformats.org/officeDocument/2006/relationships/image" Target="../media/image61.png"/><Relationship Id="rId6" Type="http://schemas.openxmlformats.org/officeDocument/2006/relationships/image" Target="../media/image29.png"/><Relationship Id="rId7" Type="http://schemas.openxmlformats.org/officeDocument/2006/relationships/image" Target="../media/image46.png"/><Relationship Id="rId8"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37.png"/><Relationship Id="rId5" Type="http://schemas.openxmlformats.org/officeDocument/2006/relationships/image" Target="../media/image57.png"/><Relationship Id="rId6" Type="http://schemas.openxmlformats.org/officeDocument/2006/relationships/image" Target="../media/image3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8.png"/><Relationship Id="rId5" Type="http://schemas.openxmlformats.org/officeDocument/2006/relationships/image" Target="../media/image65.png"/><Relationship Id="rId6" Type="http://schemas.openxmlformats.org/officeDocument/2006/relationships/image" Target="../media/image54.png"/><Relationship Id="rId7" Type="http://schemas.openxmlformats.org/officeDocument/2006/relationships/image" Target="../media/image43.png"/></Relationships>
</file>

<file path=ppt/slides/_rels/slide8.xml.rels><?xml version="1.0" encoding="UTF-8" standalone="yes"?><Relationships xmlns="http://schemas.openxmlformats.org/package/2006/relationships"><Relationship Id="rId11" Type="http://schemas.openxmlformats.org/officeDocument/2006/relationships/image" Target="../media/image53.png"/><Relationship Id="rId10" Type="http://schemas.openxmlformats.org/officeDocument/2006/relationships/image" Target="../media/image55.png"/><Relationship Id="rId12" Type="http://schemas.openxmlformats.org/officeDocument/2006/relationships/image" Target="../media/image50.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41.png"/><Relationship Id="rId9" Type="http://schemas.openxmlformats.org/officeDocument/2006/relationships/image" Target="../media/image47.png"/><Relationship Id="rId5" Type="http://schemas.openxmlformats.org/officeDocument/2006/relationships/image" Target="../media/image44.png"/><Relationship Id="rId6" Type="http://schemas.openxmlformats.org/officeDocument/2006/relationships/image" Target="../media/image40.png"/><Relationship Id="rId7" Type="http://schemas.openxmlformats.org/officeDocument/2006/relationships/image" Target="../media/image42.png"/><Relationship Id="rId8"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70.png"/><Relationship Id="rId5" Type="http://schemas.openxmlformats.org/officeDocument/2006/relationships/image" Target="../media/image51.png"/><Relationship Id="rId6" Type="http://schemas.openxmlformats.org/officeDocument/2006/relationships/image" Target="../media/image59.png"/><Relationship Id="rId7" Type="http://schemas.openxmlformats.org/officeDocument/2006/relationships/image" Target="../media/image5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56.png"/><Relationship Id="rId5" Type="http://schemas.openxmlformats.org/officeDocument/2006/relationships/image" Target="../media/image63.png"/><Relationship Id="rId6" Type="http://schemas.openxmlformats.org/officeDocument/2006/relationships/image" Target="../media/image60.png"/><Relationship Id="rId7" Type="http://schemas.openxmlformats.org/officeDocument/2006/relationships/image" Target="../media/image6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66.png"/><Relationship Id="rId5" Type="http://schemas.openxmlformats.org/officeDocument/2006/relationships/image" Target="../media/image73.png"/><Relationship Id="rId6" Type="http://schemas.openxmlformats.org/officeDocument/2006/relationships/image" Target="../media/image58.png"/><Relationship Id="rId7" Type="http://schemas.openxmlformats.org/officeDocument/2006/relationships/image" Target="../media/image6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71.png"/><Relationship Id="rId5" Type="http://schemas.openxmlformats.org/officeDocument/2006/relationships/image" Target="../media/image69.png"/><Relationship Id="rId6" Type="http://schemas.openxmlformats.org/officeDocument/2006/relationships/image" Target="../media/image72.png"/><Relationship Id="rId7"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9"/>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3309937" y="4359473"/>
            <a:ext cx="5572125" cy="695325"/>
          </a:xfrm>
          <a:prstGeom prst="rect">
            <a:avLst/>
          </a:prstGeom>
          <a:noFill/>
          <a:ln>
            <a:noFill/>
          </a:ln>
        </p:spPr>
      </p:pic>
      <p:sp>
        <p:nvSpPr>
          <p:cNvPr id="86" name="Google Shape;86;p13"/>
          <p:cNvSpPr txBox="1"/>
          <p:nvPr/>
        </p:nvSpPr>
        <p:spPr>
          <a:xfrm>
            <a:off x="4519612" y="1822251"/>
            <a:ext cx="3152775"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10B981"/>
                </a:solidFill>
                <a:latin typeface="DM Sans"/>
                <a:ea typeface="DM Sans"/>
                <a:cs typeface="DM Sans"/>
                <a:sym typeface="DM Sans"/>
              </a:rPr>
              <a:t>CAPSTONE PROJECT PRESENTATION</a:t>
            </a:r>
            <a:endParaRPr/>
          </a:p>
        </p:txBody>
      </p:sp>
      <p:sp>
        <p:nvSpPr>
          <p:cNvPr id="87" name="Google Shape;87;p13"/>
          <p:cNvSpPr txBox="1"/>
          <p:nvPr/>
        </p:nvSpPr>
        <p:spPr>
          <a:xfrm>
            <a:off x="3170634" y="2146101"/>
            <a:ext cx="5850731" cy="1270396"/>
          </a:xfrm>
          <a:prstGeom prst="rect">
            <a:avLst/>
          </a:prstGeom>
          <a:noFill/>
          <a:ln>
            <a:noFill/>
          </a:ln>
        </p:spPr>
        <p:txBody>
          <a:bodyPr anchorCtr="0" anchor="t" bIns="0" lIns="0" spcFirstLastPara="1" rIns="0" wrap="square" tIns="0">
            <a:spAutoFit/>
          </a:bodyPr>
          <a:lstStyle/>
          <a:p>
            <a:pPr indent="0" lvl="0" marL="0" marR="0" rtl="0" algn="ctr">
              <a:lnSpc>
                <a:spcPct val="114988"/>
              </a:lnSpc>
              <a:spcBef>
                <a:spcPts val="0"/>
              </a:spcBef>
              <a:spcAft>
                <a:spcPts val="0"/>
              </a:spcAft>
              <a:buNone/>
            </a:pPr>
            <a:r>
              <a:rPr b="0" i="0" lang="en-US" sz="4350" u="none" cap="none" strike="noStrike">
                <a:solidFill>
                  <a:srgbClr val="FFFFFF"/>
                </a:solidFill>
                <a:latin typeface="Urbanist ExtraBold"/>
                <a:ea typeface="Urbanist ExtraBold"/>
                <a:cs typeface="Urbanist ExtraBold"/>
                <a:sym typeface="Urbanist ExtraBold"/>
              </a:rPr>
              <a:t>Mutual Fund Analytics</a:t>
            </a:r>
            <a:br>
              <a:rPr b="0" i="0" lang="en-US" sz="1800" u="none" cap="none" strike="noStrike">
                <a:solidFill>
                  <a:schemeClr val="dk1"/>
                </a:solidFill>
                <a:latin typeface="Calibri"/>
                <a:ea typeface="Calibri"/>
                <a:cs typeface="Calibri"/>
                <a:sym typeface="Calibri"/>
              </a:rPr>
            </a:br>
            <a:r>
              <a:rPr b="0" i="0" lang="en-US" sz="4350" u="none" cap="none" strike="noStrike">
                <a:solidFill>
                  <a:srgbClr val="38BDF8"/>
                </a:solidFill>
                <a:latin typeface="Urbanist ExtraBold"/>
                <a:ea typeface="Urbanist ExtraBold"/>
                <a:cs typeface="Urbanist ExtraBold"/>
                <a:sym typeface="Urbanist ExtraBold"/>
              </a:rPr>
              <a:t>Capstone Project</a:t>
            </a:r>
            <a:endParaRPr/>
          </a:p>
        </p:txBody>
      </p:sp>
      <p:sp>
        <p:nvSpPr>
          <p:cNvPr id="88" name="Google Shape;88;p13"/>
          <p:cNvSpPr txBox="1"/>
          <p:nvPr/>
        </p:nvSpPr>
        <p:spPr>
          <a:xfrm>
            <a:off x="3309937" y="3606998"/>
            <a:ext cx="557212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94A3B8"/>
                </a:solidFill>
                <a:latin typeface="DM Sans"/>
                <a:ea typeface="DM Sans"/>
                <a:cs typeface="DM Sans"/>
                <a:sym typeface="DM Sans"/>
              </a:rPr>
              <a:t>Python ETL, SQLite Analytics &amp; Power BI Data Exploration</a:t>
            </a:r>
            <a:endParaRPr/>
          </a:p>
        </p:txBody>
      </p:sp>
      <p:sp>
        <p:nvSpPr>
          <p:cNvPr id="89" name="Google Shape;89;p13"/>
          <p:cNvSpPr txBox="1"/>
          <p:nvPr/>
        </p:nvSpPr>
        <p:spPr>
          <a:xfrm>
            <a:off x="3429000" y="4654748"/>
            <a:ext cx="117157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94A3B8"/>
                </a:solidFill>
                <a:latin typeface="DM Sans"/>
                <a:ea typeface="DM Sans"/>
                <a:cs typeface="DM Sans"/>
                <a:sym typeface="DM Sans"/>
              </a:rPr>
              <a:t>PREPARED BY</a:t>
            </a:r>
            <a:endParaRPr/>
          </a:p>
        </p:txBody>
      </p:sp>
      <p:sp>
        <p:nvSpPr>
          <p:cNvPr id="90" name="Google Shape;90;p13"/>
          <p:cNvSpPr txBox="1"/>
          <p:nvPr/>
        </p:nvSpPr>
        <p:spPr>
          <a:xfrm>
            <a:off x="3429000" y="4854773"/>
            <a:ext cx="11715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FFFFF"/>
                </a:solidFill>
                <a:latin typeface="DM Sans"/>
                <a:ea typeface="DM Sans"/>
                <a:cs typeface="DM Sans"/>
                <a:sym typeface="DM Sans"/>
              </a:rPr>
              <a:t>Siddhi Kumbhar</a:t>
            </a:r>
            <a:endParaRPr/>
          </a:p>
        </p:txBody>
      </p:sp>
      <p:sp>
        <p:nvSpPr>
          <p:cNvPr id="91" name="Google Shape;91;p13"/>
          <p:cNvSpPr txBox="1"/>
          <p:nvPr/>
        </p:nvSpPr>
        <p:spPr>
          <a:xfrm>
            <a:off x="5172075" y="4654748"/>
            <a:ext cx="223837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94A3B8"/>
                </a:solidFill>
                <a:latin typeface="DM Sans"/>
                <a:ea typeface="DM Sans"/>
                <a:cs typeface="DM Sans"/>
                <a:sym typeface="DM Sans"/>
              </a:rPr>
              <a:t>INTERNSHIP</a:t>
            </a:r>
            <a:endParaRPr/>
          </a:p>
        </p:txBody>
      </p:sp>
      <p:sp>
        <p:nvSpPr>
          <p:cNvPr id="92" name="Google Shape;92;p13"/>
          <p:cNvSpPr txBox="1"/>
          <p:nvPr/>
        </p:nvSpPr>
        <p:spPr>
          <a:xfrm>
            <a:off x="5172075" y="4854773"/>
            <a:ext cx="22383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FFFFF"/>
                </a:solidFill>
                <a:latin typeface="DM Sans"/>
                <a:ea typeface="DM Sans"/>
                <a:cs typeface="DM Sans"/>
                <a:sym typeface="DM Sans"/>
              </a:rPr>
              <a:t>Bluestock Internship Program</a:t>
            </a:r>
            <a:endParaRPr/>
          </a:p>
        </p:txBody>
      </p:sp>
      <p:sp>
        <p:nvSpPr>
          <p:cNvPr id="93" name="Google Shape;93;p13"/>
          <p:cNvSpPr txBox="1"/>
          <p:nvPr/>
        </p:nvSpPr>
        <p:spPr>
          <a:xfrm>
            <a:off x="7981950" y="4654748"/>
            <a:ext cx="7810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94A3B8"/>
                </a:solidFill>
                <a:latin typeface="DM Sans"/>
                <a:ea typeface="DM Sans"/>
                <a:cs typeface="DM Sans"/>
                <a:sym typeface="DM Sans"/>
              </a:rPr>
              <a:t>DATE</a:t>
            </a:r>
            <a:endParaRPr/>
          </a:p>
        </p:txBody>
      </p:sp>
      <p:sp>
        <p:nvSpPr>
          <p:cNvPr id="94" name="Google Shape;94;p13"/>
          <p:cNvSpPr txBox="1"/>
          <p:nvPr/>
        </p:nvSpPr>
        <p:spPr>
          <a:xfrm>
            <a:off x="7981950" y="4854773"/>
            <a:ext cx="78105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FFFFF"/>
                </a:solidFill>
                <a:latin typeface="DM Sans"/>
                <a:ea typeface="DM Sans"/>
                <a:cs typeface="DM Sans"/>
                <a:sym typeface="DM Sans"/>
              </a:rPr>
              <a:t>June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8" name="Shape 98"/>
        <p:cNvGrpSpPr/>
        <p:nvPr/>
      </p:nvGrpSpPr>
      <p:grpSpPr>
        <a:xfrm>
          <a:off x="0" y="0"/>
          <a:ext cx="0" cy="0"/>
          <a:chOff x="0" y="0"/>
          <a:chExt cx="0" cy="0"/>
        </a:xfrm>
      </p:grpSpPr>
      <p:pic>
        <p:nvPicPr>
          <p:cNvPr descr="image.png" id="99" name="Google Shape;99;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0" name="Google Shape;100;p14"/>
          <p:cNvPicPr preferRelativeResize="0"/>
          <p:nvPr/>
        </p:nvPicPr>
        <p:blipFill rotWithShape="1">
          <a:blip r:embed="rId4">
            <a:alphaModFix/>
          </a:blip>
          <a:srcRect b="0" l="0" r="0" t="0"/>
          <a:stretch/>
        </p:blipFill>
        <p:spPr>
          <a:xfrm>
            <a:off x="6286500" y="2428875"/>
            <a:ext cx="5334000" cy="1304925"/>
          </a:xfrm>
          <a:prstGeom prst="rect">
            <a:avLst/>
          </a:prstGeom>
          <a:noFill/>
          <a:ln>
            <a:noFill/>
          </a:ln>
        </p:spPr>
      </p:pic>
      <p:pic>
        <p:nvPicPr>
          <p:cNvPr descr="image.png" id="101" name="Google Shape;101;p14"/>
          <p:cNvPicPr preferRelativeResize="0"/>
          <p:nvPr/>
        </p:nvPicPr>
        <p:blipFill rotWithShape="1">
          <a:blip r:embed="rId5">
            <a:alphaModFix/>
          </a:blip>
          <a:srcRect b="0" l="0" r="0" t="0"/>
          <a:stretch/>
        </p:blipFill>
        <p:spPr>
          <a:xfrm>
            <a:off x="6286500" y="3924300"/>
            <a:ext cx="5334000" cy="1304925"/>
          </a:xfrm>
          <a:prstGeom prst="rect">
            <a:avLst/>
          </a:prstGeom>
          <a:noFill/>
          <a:ln>
            <a:noFill/>
          </a:ln>
        </p:spPr>
      </p:pic>
      <p:sp>
        <p:nvSpPr>
          <p:cNvPr id="102" name="Google Shape;102;p14"/>
          <p:cNvSpPr txBox="1"/>
          <p:nvPr/>
        </p:nvSpPr>
        <p:spPr>
          <a:xfrm>
            <a:off x="571500" y="2247155"/>
            <a:ext cx="5334000" cy="95994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1E3A8A"/>
                </a:solidFill>
                <a:latin typeface="Urbanist SemiBold"/>
                <a:ea typeface="Urbanist SemiBold"/>
                <a:cs typeface="Urbanist SemiBold"/>
                <a:sym typeface="Urbanist SemiBold"/>
              </a:rPr>
              <a:t>How can investors and fund managers navigate the massive deluge of complex mutual fund performance and transaction data?</a:t>
            </a:r>
            <a:endParaRPr/>
          </a:p>
        </p:txBody>
      </p:sp>
      <p:sp>
        <p:nvSpPr>
          <p:cNvPr id="103" name="Google Shape;103;p14"/>
          <p:cNvSpPr txBox="1"/>
          <p:nvPr/>
        </p:nvSpPr>
        <p:spPr>
          <a:xfrm>
            <a:off x="571500" y="3445222"/>
            <a:ext cx="5334000" cy="9751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475569"/>
                </a:solidFill>
                <a:latin typeface="DM Sans"/>
                <a:ea typeface="DM Sans"/>
                <a:cs typeface="DM Sans"/>
                <a:sym typeface="DM Sans"/>
              </a:rPr>
              <a:t>The mutual fund industry generates overwhelming transaction registries, AUM metrics, and daily Net Asset Values (NAV). Raw data holds immense latent value, but remains difficult to translate into actionable investment advice without modern pipeline analytics.</a:t>
            </a:r>
            <a:endParaRPr/>
          </a:p>
        </p:txBody>
      </p:sp>
      <p:pic>
        <p:nvPicPr>
          <p:cNvPr descr="image.png" id="104" name="Google Shape;104;p14"/>
          <p:cNvPicPr preferRelativeResize="0"/>
          <p:nvPr/>
        </p:nvPicPr>
        <p:blipFill rotWithShape="1">
          <a:blip r:embed="rId6">
            <a:alphaModFix/>
          </a:blip>
          <a:srcRect b="0" l="0" r="0" t="0"/>
          <a:stretch/>
        </p:blipFill>
        <p:spPr>
          <a:xfrm>
            <a:off x="752475" y="4896594"/>
            <a:ext cx="228600" cy="228600"/>
          </a:xfrm>
          <a:prstGeom prst="rect">
            <a:avLst/>
          </a:prstGeom>
          <a:noFill/>
          <a:ln>
            <a:noFill/>
          </a:ln>
        </p:spPr>
      </p:pic>
      <p:sp>
        <p:nvSpPr>
          <p:cNvPr id="105" name="Google Shape;105;p14"/>
          <p:cNvSpPr txBox="1"/>
          <p:nvPr/>
        </p:nvSpPr>
        <p:spPr>
          <a:xfrm>
            <a:off x="1123950" y="4753719"/>
            <a:ext cx="4638675"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1E40AF"/>
                </a:solidFill>
                <a:latin typeface="DM Sans Medium"/>
                <a:ea typeface="DM Sans Medium"/>
                <a:cs typeface="DM Sans Medium"/>
                <a:sym typeface="DM Sans Medium"/>
              </a:rPr>
              <a:t>Critical Gap: Lack of consolidated ETL pipelines combining real-time NAV movements, investor transaction histories, and advanced risk profiles.</a:t>
            </a:r>
            <a:endParaRPr/>
          </a:p>
        </p:txBody>
      </p:sp>
      <p:sp>
        <p:nvSpPr>
          <p:cNvPr id="106" name="Google Shape;106;p14"/>
          <p:cNvSpPr txBox="1"/>
          <p:nvPr/>
        </p:nvSpPr>
        <p:spPr>
          <a:xfrm>
            <a:off x="6562725" y="2667000"/>
            <a:ext cx="5060632"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1E3A8A"/>
                </a:solidFill>
                <a:latin typeface="Urbanist SemiBold"/>
                <a:ea typeface="Urbanist SemiBold"/>
                <a:cs typeface="Urbanist SemiBold"/>
                <a:sym typeface="Urbanist SemiBold"/>
              </a:rPr>
              <a:t>Data Volume &amp; Complexity</a:t>
            </a:r>
            <a:endParaRPr/>
          </a:p>
        </p:txBody>
      </p:sp>
      <p:sp>
        <p:nvSpPr>
          <p:cNvPr id="107" name="Google Shape;107;p14"/>
          <p:cNvSpPr txBox="1"/>
          <p:nvPr/>
        </p:nvSpPr>
        <p:spPr>
          <a:xfrm>
            <a:off x="6562725" y="3038475"/>
            <a:ext cx="4819650"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DM Sans"/>
                <a:ea typeface="DM Sans"/>
                <a:cs typeface="DM Sans"/>
                <a:sym typeface="DM Sans"/>
              </a:rPr>
              <a:t>Millions of daily NAV updates, diverse scheme types, multi-location transaction streams, and complex underlying index comparisons.</a:t>
            </a:r>
            <a:endParaRPr/>
          </a:p>
        </p:txBody>
      </p:sp>
      <p:sp>
        <p:nvSpPr>
          <p:cNvPr id="108" name="Google Shape;108;p14"/>
          <p:cNvSpPr txBox="1"/>
          <p:nvPr/>
        </p:nvSpPr>
        <p:spPr>
          <a:xfrm>
            <a:off x="6562725" y="4162425"/>
            <a:ext cx="5060632"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1E3A8A"/>
                </a:solidFill>
                <a:latin typeface="Urbanist SemiBold"/>
                <a:ea typeface="Urbanist SemiBold"/>
                <a:cs typeface="Urbanist SemiBold"/>
                <a:sym typeface="Urbanist SemiBold"/>
              </a:rPr>
              <a:t>The Analytics Solution</a:t>
            </a:r>
            <a:endParaRPr/>
          </a:p>
        </p:txBody>
      </p:sp>
      <p:sp>
        <p:nvSpPr>
          <p:cNvPr id="109" name="Google Shape;109;p14"/>
          <p:cNvSpPr txBox="1"/>
          <p:nvPr/>
        </p:nvSpPr>
        <p:spPr>
          <a:xfrm>
            <a:off x="6562725" y="4533900"/>
            <a:ext cx="4819650"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DM Sans"/>
                <a:ea typeface="DM Sans"/>
                <a:cs typeface="DM Sans"/>
                <a:sym typeface="DM Sans"/>
              </a:rPr>
              <a:t>Building automated pipelines to synthesize unstructured performance tables, clean transaction feeds, and surface visual risk-reward metrics.</a:t>
            </a:r>
            <a:endParaRPr/>
          </a:p>
        </p:txBody>
      </p:sp>
      <p:sp>
        <p:nvSpPr>
          <p:cNvPr id="110" name="Google Shape;110;p14"/>
          <p:cNvSpPr txBox="1"/>
          <p:nvPr/>
        </p:nvSpPr>
        <p:spPr>
          <a:xfrm>
            <a:off x="571500" y="47625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Urbanist"/>
                <a:ea typeface="Urbanist"/>
                <a:cs typeface="Urbanist"/>
                <a:sym typeface="Urbanist"/>
              </a:rPr>
              <a:t>THE PROBLEM STATEMENT</a:t>
            </a:r>
            <a:endParaRPr/>
          </a:p>
        </p:txBody>
      </p:sp>
      <p:sp>
        <p:nvSpPr>
          <p:cNvPr id="111" name="Google Shape;111;p14"/>
          <p:cNvSpPr/>
          <p:nvPr/>
        </p:nvSpPr>
        <p:spPr>
          <a:xfrm>
            <a:off x="571500" y="1009650"/>
            <a:ext cx="11049000" cy="28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5" name="Shape 115"/>
        <p:cNvGrpSpPr/>
        <p:nvPr/>
      </p:nvGrpSpPr>
      <p:grpSpPr>
        <a:xfrm>
          <a:off x="0" y="0"/>
          <a:ext cx="0" cy="0"/>
          <a:chOff x="0" y="0"/>
          <a:chExt cx="0" cy="0"/>
        </a:xfrm>
      </p:grpSpPr>
      <p:pic>
        <p:nvPicPr>
          <p:cNvPr descr="image.png" id="116" name="Google Shape;116;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7" name="Google Shape;117;p15"/>
          <p:cNvPicPr preferRelativeResize="0"/>
          <p:nvPr/>
        </p:nvPicPr>
        <p:blipFill rotWithShape="1">
          <a:blip r:embed="rId4">
            <a:alphaModFix/>
          </a:blip>
          <a:srcRect b="0" l="0" r="0" t="0"/>
          <a:stretch/>
        </p:blipFill>
        <p:spPr>
          <a:xfrm>
            <a:off x="571500" y="2009775"/>
            <a:ext cx="3524250" cy="1943100"/>
          </a:xfrm>
          <a:prstGeom prst="rect">
            <a:avLst/>
          </a:prstGeom>
          <a:noFill/>
          <a:ln>
            <a:noFill/>
          </a:ln>
        </p:spPr>
      </p:pic>
      <p:pic>
        <p:nvPicPr>
          <p:cNvPr descr="image.png" id="118" name="Google Shape;118;p15"/>
          <p:cNvPicPr preferRelativeResize="0"/>
          <p:nvPr/>
        </p:nvPicPr>
        <p:blipFill rotWithShape="1">
          <a:blip r:embed="rId5">
            <a:alphaModFix/>
          </a:blip>
          <a:srcRect b="0" l="0" r="0" t="0"/>
          <a:stretch/>
        </p:blipFill>
        <p:spPr>
          <a:xfrm>
            <a:off x="4333875" y="2009775"/>
            <a:ext cx="3524250" cy="1943100"/>
          </a:xfrm>
          <a:prstGeom prst="rect">
            <a:avLst/>
          </a:prstGeom>
          <a:noFill/>
          <a:ln>
            <a:noFill/>
          </a:ln>
        </p:spPr>
      </p:pic>
      <p:pic>
        <p:nvPicPr>
          <p:cNvPr descr="image.png" id="119" name="Google Shape;119;p15"/>
          <p:cNvPicPr preferRelativeResize="0"/>
          <p:nvPr/>
        </p:nvPicPr>
        <p:blipFill rotWithShape="1">
          <a:blip r:embed="rId6">
            <a:alphaModFix/>
          </a:blip>
          <a:srcRect b="0" l="0" r="0" t="0"/>
          <a:stretch/>
        </p:blipFill>
        <p:spPr>
          <a:xfrm>
            <a:off x="8096250" y="2009775"/>
            <a:ext cx="3524250" cy="1943100"/>
          </a:xfrm>
          <a:prstGeom prst="rect">
            <a:avLst/>
          </a:prstGeom>
          <a:noFill/>
          <a:ln>
            <a:noFill/>
          </a:ln>
        </p:spPr>
      </p:pic>
      <p:pic>
        <p:nvPicPr>
          <p:cNvPr descr="image.png" id="120" name="Google Shape;120;p15"/>
          <p:cNvPicPr preferRelativeResize="0"/>
          <p:nvPr/>
        </p:nvPicPr>
        <p:blipFill rotWithShape="1">
          <a:blip r:embed="rId7">
            <a:alphaModFix/>
          </a:blip>
          <a:srcRect b="0" l="0" r="0" t="0"/>
          <a:stretch/>
        </p:blipFill>
        <p:spPr>
          <a:xfrm>
            <a:off x="571500" y="4191000"/>
            <a:ext cx="3524250" cy="1943100"/>
          </a:xfrm>
          <a:prstGeom prst="rect">
            <a:avLst/>
          </a:prstGeom>
          <a:noFill/>
          <a:ln>
            <a:noFill/>
          </a:ln>
        </p:spPr>
      </p:pic>
      <p:pic>
        <p:nvPicPr>
          <p:cNvPr descr="image.png" id="121" name="Google Shape;121;p15"/>
          <p:cNvPicPr preferRelativeResize="0"/>
          <p:nvPr/>
        </p:nvPicPr>
        <p:blipFill rotWithShape="1">
          <a:blip r:embed="rId5">
            <a:alphaModFix/>
          </a:blip>
          <a:srcRect b="0" l="0" r="0" t="0"/>
          <a:stretch/>
        </p:blipFill>
        <p:spPr>
          <a:xfrm>
            <a:off x="4333875" y="4191000"/>
            <a:ext cx="3524250" cy="1943100"/>
          </a:xfrm>
          <a:prstGeom prst="rect">
            <a:avLst/>
          </a:prstGeom>
          <a:noFill/>
          <a:ln>
            <a:noFill/>
          </a:ln>
        </p:spPr>
      </p:pic>
      <p:pic>
        <p:nvPicPr>
          <p:cNvPr descr="image.png" id="122" name="Google Shape;122;p15"/>
          <p:cNvPicPr preferRelativeResize="0"/>
          <p:nvPr/>
        </p:nvPicPr>
        <p:blipFill rotWithShape="1">
          <a:blip r:embed="rId8">
            <a:alphaModFix/>
          </a:blip>
          <a:srcRect b="0" l="0" r="0" t="0"/>
          <a:stretch/>
        </p:blipFill>
        <p:spPr>
          <a:xfrm>
            <a:off x="8096250" y="4191000"/>
            <a:ext cx="3524250" cy="1943100"/>
          </a:xfrm>
          <a:prstGeom prst="rect">
            <a:avLst/>
          </a:prstGeom>
          <a:noFill/>
          <a:ln>
            <a:noFill/>
          </a:ln>
        </p:spPr>
      </p:pic>
      <p:sp>
        <p:nvSpPr>
          <p:cNvPr id="123" name="Google Shape;123;p15"/>
          <p:cNvSpPr txBox="1"/>
          <p:nvPr/>
        </p:nvSpPr>
        <p:spPr>
          <a:xfrm>
            <a:off x="571500" y="1524000"/>
            <a:ext cx="1104900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64748B"/>
                </a:solidFill>
                <a:latin typeface="DM Sans"/>
                <a:ea typeface="DM Sans"/>
                <a:cs typeface="DM Sans"/>
                <a:sym typeface="DM Sans"/>
              </a:rPr>
              <a:t>This capstone designs an end-to-end framework starting from raw database ingestion to interactive intelligence reporting.</a:t>
            </a:r>
            <a:endParaRPr/>
          </a:p>
        </p:txBody>
      </p:sp>
      <p:pic>
        <p:nvPicPr>
          <p:cNvPr descr="image.png" id="124" name="Google Shape;124;p15"/>
          <p:cNvPicPr preferRelativeResize="0"/>
          <p:nvPr/>
        </p:nvPicPr>
        <p:blipFill rotWithShape="1">
          <a:blip r:embed="rId9">
            <a:alphaModFix/>
          </a:blip>
          <a:srcRect b="0" l="0" r="0" t="0"/>
          <a:stretch/>
        </p:blipFill>
        <p:spPr>
          <a:xfrm>
            <a:off x="809625" y="2247900"/>
            <a:ext cx="238125" cy="266700"/>
          </a:xfrm>
          <a:prstGeom prst="rect">
            <a:avLst/>
          </a:prstGeom>
          <a:noFill/>
          <a:ln>
            <a:noFill/>
          </a:ln>
        </p:spPr>
      </p:pic>
      <p:sp>
        <p:nvSpPr>
          <p:cNvPr id="125" name="Google Shape;125;p15"/>
          <p:cNvSpPr txBox="1"/>
          <p:nvPr/>
        </p:nvSpPr>
        <p:spPr>
          <a:xfrm>
            <a:off x="809625" y="2657475"/>
            <a:ext cx="3200400"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1E3A8A"/>
                </a:solidFill>
                <a:latin typeface="Urbanist SemiBold"/>
                <a:ea typeface="Urbanist SemiBold"/>
                <a:cs typeface="Urbanist SemiBold"/>
                <a:sym typeface="Urbanist SemiBold"/>
              </a:rPr>
              <a:t>1. ETL Pipeline</a:t>
            </a:r>
            <a:endParaRPr/>
          </a:p>
        </p:txBody>
      </p:sp>
      <p:sp>
        <p:nvSpPr>
          <p:cNvPr id="126" name="Google Shape;126;p15"/>
          <p:cNvSpPr txBox="1"/>
          <p:nvPr/>
        </p:nvSpPr>
        <p:spPr>
          <a:xfrm>
            <a:off x="809625" y="3028950"/>
            <a:ext cx="304800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DM Sans"/>
                <a:ea typeface="DM Sans"/>
                <a:cs typeface="DM Sans"/>
                <a:sym typeface="DM Sans"/>
              </a:rPr>
              <a:t>Ingest raw, unstructured multi-CSV source data directly into an optimized relational database utilizing SQLite.</a:t>
            </a:r>
            <a:endParaRPr/>
          </a:p>
        </p:txBody>
      </p:sp>
      <p:pic>
        <p:nvPicPr>
          <p:cNvPr descr="image.png" id="127" name="Google Shape;127;p15"/>
          <p:cNvPicPr preferRelativeResize="0"/>
          <p:nvPr/>
        </p:nvPicPr>
        <p:blipFill rotWithShape="1">
          <a:blip r:embed="rId10">
            <a:alphaModFix/>
          </a:blip>
          <a:srcRect b="0" l="0" r="0" t="0"/>
          <a:stretch/>
        </p:blipFill>
        <p:spPr>
          <a:xfrm>
            <a:off x="4572000" y="2247900"/>
            <a:ext cx="266700" cy="266700"/>
          </a:xfrm>
          <a:prstGeom prst="rect">
            <a:avLst/>
          </a:prstGeom>
          <a:noFill/>
          <a:ln>
            <a:noFill/>
          </a:ln>
        </p:spPr>
      </p:pic>
      <p:sp>
        <p:nvSpPr>
          <p:cNvPr id="128" name="Google Shape;128;p15"/>
          <p:cNvSpPr txBox="1"/>
          <p:nvPr/>
        </p:nvSpPr>
        <p:spPr>
          <a:xfrm>
            <a:off x="4572000" y="2657475"/>
            <a:ext cx="3200400"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1E3A8A"/>
                </a:solidFill>
                <a:latin typeface="Urbanist SemiBold"/>
                <a:ea typeface="Urbanist SemiBold"/>
                <a:cs typeface="Urbanist SemiBold"/>
                <a:sym typeface="Urbanist SemiBold"/>
              </a:rPr>
              <a:t>2. Clean &amp; Validate</a:t>
            </a:r>
            <a:endParaRPr/>
          </a:p>
        </p:txBody>
      </p:sp>
      <p:sp>
        <p:nvSpPr>
          <p:cNvPr id="129" name="Google Shape;129;p15"/>
          <p:cNvSpPr txBox="1"/>
          <p:nvPr/>
        </p:nvSpPr>
        <p:spPr>
          <a:xfrm>
            <a:off x="4572000" y="3028950"/>
            <a:ext cx="304800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DM Sans"/>
                <a:ea typeface="DM Sans"/>
                <a:cs typeface="DM Sans"/>
                <a:sym typeface="DM Sans"/>
              </a:rPr>
              <a:t>Enforce strict operational constraints, handle missing null dates, filter anomalies, and ensure relational integrity.</a:t>
            </a:r>
            <a:endParaRPr/>
          </a:p>
        </p:txBody>
      </p:sp>
      <p:pic>
        <p:nvPicPr>
          <p:cNvPr descr="image.png" id="130" name="Google Shape;130;p15"/>
          <p:cNvPicPr preferRelativeResize="0"/>
          <p:nvPr/>
        </p:nvPicPr>
        <p:blipFill rotWithShape="1">
          <a:blip r:embed="rId11">
            <a:alphaModFix/>
          </a:blip>
          <a:srcRect b="0" l="0" r="0" t="0"/>
          <a:stretch/>
        </p:blipFill>
        <p:spPr>
          <a:xfrm>
            <a:off x="8334375" y="2247900"/>
            <a:ext cx="266700" cy="266700"/>
          </a:xfrm>
          <a:prstGeom prst="rect">
            <a:avLst/>
          </a:prstGeom>
          <a:noFill/>
          <a:ln>
            <a:noFill/>
          </a:ln>
        </p:spPr>
      </p:pic>
      <p:sp>
        <p:nvSpPr>
          <p:cNvPr id="131" name="Google Shape;131;p15"/>
          <p:cNvSpPr txBox="1"/>
          <p:nvPr/>
        </p:nvSpPr>
        <p:spPr>
          <a:xfrm>
            <a:off x="8334375" y="2657475"/>
            <a:ext cx="3200400"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1E3A8A"/>
                </a:solidFill>
                <a:latin typeface="Urbanist SemiBold"/>
                <a:ea typeface="Urbanist SemiBold"/>
                <a:cs typeface="Urbanist SemiBold"/>
                <a:sym typeface="Urbanist SemiBold"/>
              </a:rPr>
              <a:t>3. Exploratory Analysis</a:t>
            </a:r>
            <a:endParaRPr/>
          </a:p>
        </p:txBody>
      </p:sp>
      <p:sp>
        <p:nvSpPr>
          <p:cNvPr id="132" name="Google Shape;132;p15"/>
          <p:cNvSpPr txBox="1"/>
          <p:nvPr/>
        </p:nvSpPr>
        <p:spPr>
          <a:xfrm>
            <a:off x="8334375" y="3028950"/>
            <a:ext cx="304800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DM Sans"/>
                <a:ea typeface="DM Sans"/>
                <a:cs typeface="DM Sans"/>
                <a:sym typeface="DM Sans"/>
              </a:rPr>
              <a:t>Mine underlying historical metrics to visualize key asset volume trends and investor demographic traits.</a:t>
            </a:r>
            <a:endParaRPr/>
          </a:p>
        </p:txBody>
      </p:sp>
      <p:pic>
        <p:nvPicPr>
          <p:cNvPr descr="image.png" id="133" name="Google Shape;133;p15"/>
          <p:cNvPicPr preferRelativeResize="0"/>
          <p:nvPr/>
        </p:nvPicPr>
        <p:blipFill rotWithShape="1">
          <a:blip r:embed="rId12">
            <a:alphaModFix/>
          </a:blip>
          <a:srcRect b="0" l="0" r="0" t="0"/>
          <a:stretch/>
        </p:blipFill>
        <p:spPr>
          <a:xfrm>
            <a:off x="809625" y="4429125"/>
            <a:ext cx="266700" cy="266700"/>
          </a:xfrm>
          <a:prstGeom prst="rect">
            <a:avLst/>
          </a:prstGeom>
          <a:noFill/>
          <a:ln>
            <a:noFill/>
          </a:ln>
        </p:spPr>
      </p:pic>
      <p:sp>
        <p:nvSpPr>
          <p:cNvPr id="134" name="Google Shape;134;p15"/>
          <p:cNvSpPr txBox="1"/>
          <p:nvPr/>
        </p:nvSpPr>
        <p:spPr>
          <a:xfrm>
            <a:off x="809625" y="4838700"/>
            <a:ext cx="3200400"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1E3A8A"/>
                </a:solidFill>
                <a:latin typeface="Urbanist SemiBold"/>
                <a:ea typeface="Urbanist SemiBold"/>
                <a:cs typeface="Urbanist SemiBold"/>
                <a:sym typeface="Urbanist SemiBold"/>
              </a:rPr>
              <a:t>4. Performance ROI</a:t>
            </a:r>
            <a:endParaRPr/>
          </a:p>
        </p:txBody>
      </p:sp>
      <p:sp>
        <p:nvSpPr>
          <p:cNvPr id="135" name="Google Shape;135;p15"/>
          <p:cNvSpPr txBox="1"/>
          <p:nvPr/>
        </p:nvSpPr>
        <p:spPr>
          <a:xfrm>
            <a:off x="809625" y="5210175"/>
            <a:ext cx="304800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DM Sans"/>
                <a:ea typeface="DM Sans"/>
                <a:cs typeface="DM Sans"/>
                <a:sym typeface="DM Sans"/>
              </a:rPr>
              <a:t>Calculate dynamic ROI benchmarks including Daily Returns, Compounded Annualized Growth Rate (CAGR), and cumulative yields.</a:t>
            </a:r>
            <a:endParaRPr/>
          </a:p>
        </p:txBody>
      </p:sp>
      <p:pic>
        <p:nvPicPr>
          <p:cNvPr descr="image.png" id="136" name="Google Shape;136;p15"/>
          <p:cNvPicPr preferRelativeResize="0"/>
          <p:nvPr/>
        </p:nvPicPr>
        <p:blipFill rotWithShape="1">
          <a:blip r:embed="rId13">
            <a:alphaModFix/>
          </a:blip>
          <a:srcRect b="0" l="0" r="0" t="0"/>
          <a:stretch/>
        </p:blipFill>
        <p:spPr>
          <a:xfrm>
            <a:off x="4572000" y="4429125"/>
            <a:ext cx="266700" cy="266700"/>
          </a:xfrm>
          <a:prstGeom prst="rect">
            <a:avLst/>
          </a:prstGeom>
          <a:noFill/>
          <a:ln>
            <a:noFill/>
          </a:ln>
        </p:spPr>
      </p:pic>
      <p:sp>
        <p:nvSpPr>
          <p:cNvPr id="137" name="Google Shape;137;p15"/>
          <p:cNvSpPr txBox="1"/>
          <p:nvPr/>
        </p:nvSpPr>
        <p:spPr>
          <a:xfrm>
            <a:off x="4572000" y="4838700"/>
            <a:ext cx="3200400"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1E3A8A"/>
                </a:solidFill>
                <a:latin typeface="Urbanist SemiBold"/>
                <a:ea typeface="Urbanist SemiBold"/>
                <a:cs typeface="Urbanist SemiBold"/>
                <a:sym typeface="Urbanist SemiBold"/>
              </a:rPr>
              <a:t>5. Risk Profiling</a:t>
            </a:r>
            <a:endParaRPr/>
          </a:p>
        </p:txBody>
      </p:sp>
      <p:sp>
        <p:nvSpPr>
          <p:cNvPr id="138" name="Google Shape;138;p15"/>
          <p:cNvSpPr txBox="1"/>
          <p:nvPr/>
        </p:nvSpPr>
        <p:spPr>
          <a:xfrm>
            <a:off x="4572000" y="5210175"/>
            <a:ext cx="304800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DM Sans"/>
                <a:ea typeface="DM Sans"/>
                <a:cs typeface="DM Sans"/>
                <a:sym typeface="DM Sans"/>
              </a:rPr>
              <a:t>Quantify risk-adjusted security gains using foundational ratios (Sharpe, Sortino, Alpha, Beta, and Max Drawdown).</a:t>
            </a:r>
            <a:endParaRPr/>
          </a:p>
        </p:txBody>
      </p:sp>
      <p:pic>
        <p:nvPicPr>
          <p:cNvPr descr="image.png" id="139" name="Google Shape;139;p15"/>
          <p:cNvPicPr preferRelativeResize="0"/>
          <p:nvPr/>
        </p:nvPicPr>
        <p:blipFill rotWithShape="1">
          <a:blip r:embed="rId14">
            <a:alphaModFix/>
          </a:blip>
          <a:srcRect b="0" l="0" r="0" t="0"/>
          <a:stretch/>
        </p:blipFill>
        <p:spPr>
          <a:xfrm>
            <a:off x="8334375" y="4429125"/>
            <a:ext cx="304800" cy="266700"/>
          </a:xfrm>
          <a:prstGeom prst="rect">
            <a:avLst/>
          </a:prstGeom>
          <a:noFill/>
          <a:ln>
            <a:noFill/>
          </a:ln>
        </p:spPr>
      </p:pic>
      <p:sp>
        <p:nvSpPr>
          <p:cNvPr id="140" name="Google Shape;140;p15"/>
          <p:cNvSpPr txBox="1"/>
          <p:nvPr/>
        </p:nvSpPr>
        <p:spPr>
          <a:xfrm>
            <a:off x="8334375" y="4838700"/>
            <a:ext cx="3200400"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1E3A8A"/>
                </a:solidFill>
                <a:latin typeface="Urbanist SemiBold"/>
                <a:ea typeface="Urbanist SemiBold"/>
                <a:cs typeface="Urbanist SemiBold"/>
                <a:sym typeface="Urbanist SemiBold"/>
              </a:rPr>
              <a:t>6. Dashboards</a:t>
            </a:r>
            <a:endParaRPr/>
          </a:p>
        </p:txBody>
      </p:sp>
      <p:sp>
        <p:nvSpPr>
          <p:cNvPr id="141" name="Google Shape;141;p15"/>
          <p:cNvSpPr txBox="1"/>
          <p:nvPr/>
        </p:nvSpPr>
        <p:spPr>
          <a:xfrm>
            <a:off x="8334375" y="5210175"/>
            <a:ext cx="304800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DM Sans"/>
                <a:ea typeface="DM Sans"/>
                <a:cs typeface="DM Sans"/>
                <a:sym typeface="DM Sans"/>
              </a:rPr>
              <a:t>Consolidate multi-variable insights into intuitive, executive-ready Power BI business dashboards.</a:t>
            </a:r>
            <a:endParaRPr/>
          </a:p>
        </p:txBody>
      </p:sp>
      <p:sp>
        <p:nvSpPr>
          <p:cNvPr id="142" name="Google Shape;142;p15"/>
          <p:cNvSpPr txBox="1"/>
          <p:nvPr/>
        </p:nvSpPr>
        <p:spPr>
          <a:xfrm>
            <a:off x="571500" y="47625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Urbanist"/>
                <a:ea typeface="Urbanist"/>
                <a:cs typeface="Urbanist"/>
                <a:sym typeface="Urbanist"/>
              </a:rPr>
              <a:t>PROJECT OBJECTIVES</a:t>
            </a:r>
            <a:endParaRPr/>
          </a:p>
        </p:txBody>
      </p:sp>
      <p:sp>
        <p:nvSpPr>
          <p:cNvPr id="143" name="Google Shape;143;p15"/>
          <p:cNvSpPr/>
          <p:nvPr/>
        </p:nvSpPr>
        <p:spPr>
          <a:xfrm>
            <a:off x="571500" y="1009650"/>
            <a:ext cx="11049000" cy="28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7" name="Shape 147"/>
        <p:cNvGrpSpPr/>
        <p:nvPr/>
      </p:nvGrpSpPr>
      <p:grpSpPr>
        <a:xfrm>
          <a:off x="0" y="0"/>
          <a:ext cx="0" cy="0"/>
          <a:chOff x="0" y="0"/>
          <a:chExt cx="0" cy="0"/>
        </a:xfrm>
      </p:grpSpPr>
      <p:pic>
        <p:nvPicPr>
          <p:cNvPr descr="image.png" id="148" name="Google Shape;148;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9" name="Google Shape;149;p16"/>
          <p:cNvPicPr preferRelativeResize="0"/>
          <p:nvPr/>
        </p:nvPicPr>
        <p:blipFill rotWithShape="1">
          <a:blip r:embed="rId4">
            <a:alphaModFix/>
          </a:blip>
          <a:srcRect b="0" l="0" r="0" t="0"/>
          <a:stretch/>
        </p:blipFill>
        <p:spPr>
          <a:xfrm>
            <a:off x="571500" y="2185094"/>
            <a:ext cx="2619375" cy="1548705"/>
          </a:xfrm>
          <a:prstGeom prst="rect">
            <a:avLst/>
          </a:prstGeom>
          <a:noFill/>
          <a:ln>
            <a:noFill/>
          </a:ln>
        </p:spPr>
      </p:pic>
      <p:pic>
        <p:nvPicPr>
          <p:cNvPr descr="image.png" id="150" name="Google Shape;150;p16"/>
          <p:cNvPicPr preferRelativeResize="0"/>
          <p:nvPr/>
        </p:nvPicPr>
        <p:blipFill rotWithShape="1">
          <a:blip r:embed="rId5">
            <a:alphaModFix/>
          </a:blip>
          <a:srcRect b="0" l="0" r="0" t="0"/>
          <a:stretch/>
        </p:blipFill>
        <p:spPr>
          <a:xfrm>
            <a:off x="3381375" y="2185094"/>
            <a:ext cx="2619375" cy="1548705"/>
          </a:xfrm>
          <a:prstGeom prst="rect">
            <a:avLst/>
          </a:prstGeom>
          <a:noFill/>
          <a:ln>
            <a:noFill/>
          </a:ln>
        </p:spPr>
      </p:pic>
      <p:pic>
        <p:nvPicPr>
          <p:cNvPr descr="image.png" id="151" name="Google Shape;151;p16"/>
          <p:cNvPicPr preferRelativeResize="0"/>
          <p:nvPr/>
        </p:nvPicPr>
        <p:blipFill rotWithShape="1">
          <a:blip r:embed="rId6">
            <a:alphaModFix/>
          </a:blip>
          <a:srcRect b="0" l="0" r="0" t="0"/>
          <a:stretch/>
        </p:blipFill>
        <p:spPr>
          <a:xfrm>
            <a:off x="6191250" y="2185094"/>
            <a:ext cx="2619375" cy="1548705"/>
          </a:xfrm>
          <a:prstGeom prst="rect">
            <a:avLst/>
          </a:prstGeom>
          <a:noFill/>
          <a:ln>
            <a:noFill/>
          </a:ln>
        </p:spPr>
      </p:pic>
      <p:pic>
        <p:nvPicPr>
          <p:cNvPr descr="image.png" id="152" name="Google Shape;152;p16"/>
          <p:cNvPicPr preferRelativeResize="0"/>
          <p:nvPr/>
        </p:nvPicPr>
        <p:blipFill rotWithShape="1">
          <a:blip r:embed="rId7">
            <a:alphaModFix/>
          </a:blip>
          <a:srcRect b="0" l="0" r="0" t="0"/>
          <a:stretch/>
        </p:blipFill>
        <p:spPr>
          <a:xfrm>
            <a:off x="9001125" y="2185094"/>
            <a:ext cx="2619375" cy="1548705"/>
          </a:xfrm>
          <a:prstGeom prst="rect">
            <a:avLst/>
          </a:prstGeom>
          <a:noFill/>
          <a:ln>
            <a:noFill/>
          </a:ln>
        </p:spPr>
      </p:pic>
      <p:pic>
        <p:nvPicPr>
          <p:cNvPr descr="image.png" id="153" name="Google Shape;153;p16"/>
          <p:cNvPicPr preferRelativeResize="0"/>
          <p:nvPr/>
        </p:nvPicPr>
        <p:blipFill rotWithShape="1">
          <a:blip r:embed="rId8">
            <a:alphaModFix/>
          </a:blip>
          <a:srcRect b="0" l="0" r="0" t="0"/>
          <a:stretch/>
        </p:blipFill>
        <p:spPr>
          <a:xfrm>
            <a:off x="571500" y="3924300"/>
            <a:ext cx="2619375" cy="1548705"/>
          </a:xfrm>
          <a:prstGeom prst="rect">
            <a:avLst/>
          </a:prstGeom>
          <a:noFill/>
          <a:ln>
            <a:noFill/>
          </a:ln>
        </p:spPr>
      </p:pic>
      <p:pic>
        <p:nvPicPr>
          <p:cNvPr descr="image.png" id="154" name="Google Shape;154;p16"/>
          <p:cNvPicPr preferRelativeResize="0"/>
          <p:nvPr/>
        </p:nvPicPr>
        <p:blipFill rotWithShape="1">
          <a:blip r:embed="rId5">
            <a:alphaModFix/>
          </a:blip>
          <a:srcRect b="0" l="0" r="0" t="0"/>
          <a:stretch/>
        </p:blipFill>
        <p:spPr>
          <a:xfrm>
            <a:off x="3381375" y="3924300"/>
            <a:ext cx="2619375" cy="1548705"/>
          </a:xfrm>
          <a:prstGeom prst="rect">
            <a:avLst/>
          </a:prstGeom>
          <a:noFill/>
          <a:ln>
            <a:noFill/>
          </a:ln>
        </p:spPr>
      </p:pic>
      <p:pic>
        <p:nvPicPr>
          <p:cNvPr descr="image.png" id="155" name="Google Shape;155;p16"/>
          <p:cNvPicPr preferRelativeResize="0"/>
          <p:nvPr/>
        </p:nvPicPr>
        <p:blipFill rotWithShape="1">
          <a:blip r:embed="rId6">
            <a:alphaModFix/>
          </a:blip>
          <a:srcRect b="0" l="0" r="0" t="0"/>
          <a:stretch/>
        </p:blipFill>
        <p:spPr>
          <a:xfrm>
            <a:off x="6191250" y="3924300"/>
            <a:ext cx="2619375" cy="1548705"/>
          </a:xfrm>
          <a:prstGeom prst="rect">
            <a:avLst/>
          </a:prstGeom>
          <a:noFill/>
          <a:ln>
            <a:noFill/>
          </a:ln>
        </p:spPr>
      </p:pic>
      <p:pic>
        <p:nvPicPr>
          <p:cNvPr descr="image.png" id="156" name="Google Shape;156;p16"/>
          <p:cNvPicPr preferRelativeResize="0"/>
          <p:nvPr/>
        </p:nvPicPr>
        <p:blipFill rotWithShape="1">
          <a:blip r:embed="rId9">
            <a:alphaModFix/>
          </a:blip>
          <a:srcRect b="0" l="0" r="0" t="0"/>
          <a:stretch/>
        </p:blipFill>
        <p:spPr>
          <a:xfrm>
            <a:off x="9001125" y="3924300"/>
            <a:ext cx="2619375" cy="1548705"/>
          </a:xfrm>
          <a:prstGeom prst="rect">
            <a:avLst/>
          </a:prstGeom>
          <a:noFill/>
          <a:ln>
            <a:noFill/>
          </a:ln>
        </p:spPr>
      </p:pic>
      <p:pic>
        <p:nvPicPr>
          <p:cNvPr descr="image.png" id="157" name="Google Shape;157;p16"/>
          <p:cNvPicPr preferRelativeResize="0"/>
          <p:nvPr/>
        </p:nvPicPr>
        <p:blipFill rotWithShape="1">
          <a:blip r:embed="rId10">
            <a:alphaModFix/>
          </a:blip>
          <a:srcRect b="0" l="0" r="0" t="0"/>
          <a:stretch/>
        </p:blipFill>
        <p:spPr>
          <a:xfrm>
            <a:off x="1728787" y="2385119"/>
            <a:ext cx="304800" cy="304800"/>
          </a:xfrm>
          <a:prstGeom prst="rect">
            <a:avLst/>
          </a:prstGeom>
          <a:noFill/>
          <a:ln>
            <a:noFill/>
          </a:ln>
        </p:spPr>
      </p:pic>
      <p:sp>
        <p:nvSpPr>
          <p:cNvPr id="158" name="Google Shape;158;p16"/>
          <p:cNvSpPr txBox="1"/>
          <p:nvPr/>
        </p:nvSpPr>
        <p:spPr>
          <a:xfrm>
            <a:off x="716041" y="2832794"/>
            <a:ext cx="2330291"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172A"/>
                </a:solidFill>
                <a:latin typeface="Urbanist"/>
                <a:ea typeface="Urbanist"/>
                <a:cs typeface="Urbanist"/>
                <a:sym typeface="Urbanist"/>
              </a:rPr>
              <a:t>NAV History</a:t>
            </a:r>
            <a:endParaRPr/>
          </a:p>
        </p:txBody>
      </p:sp>
      <p:sp>
        <p:nvSpPr>
          <p:cNvPr id="159" name="Google Shape;159;p16"/>
          <p:cNvSpPr txBox="1"/>
          <p:nvPr/>
        </p:nvSpPr>
        <p:spPr>
          <a:xfrm>
            <a:off x="771525" y="3137594"/>
            <a:ext cx="2219325"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475569"/>
                </a:solidFill>
                <a:latin typeface="DM Sans"/>
                <a:ea typeface="DM Sans"/>
                <a:cs typeface="DM Sans"/>
                <a:sym typeface="DM Sans"/>
              </a:rPr>
              <a:t>Daily tracking of net asset values across multiple fund classes.</a:t>
            </a:r>
            <a:endParaRPr/>
          </a:p>
        </p:txBody>
      </p:sp>
      <p:pic>
        <p:nvPicPr>
          <p:cNvPr descr="image.png" id="160" name="Google Shape;160;p16"/>
          <p:cNvPicPr preferRelativeResize="0"/>
          <p:nvPr/>
        </p:nvPicPr>
        <p:blipFill rotWithShape="1">
          <a:blip r:embed="rId11">
            <a:alphaModFix/>
          </a:blip>
          <a:srcRect b="0" l="0" r="0" t="0"/>
          <a:stretch/>
        </p:blipFill>
        <p:spPr>
          <a:xfrm>
            <a:off x="4576762" y="2385119"/>
            <a:ext cx="228600" cy="304800"/>
          </a:xfrm>
          <a:prstGeom prst="rect">
            <a:avLst/>
          </a:prstGeom>
          <a:noFill/>
          <a:ln>
            <a:noFill/>
          </a:ln>
        </p:spPr>
      </p:pic>
      <p:sp>
        <p:nvSpPr>
          <p:cNvPr id="161" name="Google Shape;161;p16"/>
          <p:cNvSpPr txBox="1"/>
          <p:nvPr/>
        </p:nvSpPr>
        <p:spPr>
          <a:xfrm>
            <a:off x="3525916" y="2832794"/>
            <a:ext cx="2330291"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172A"/>
                </a:solidFill>
                <a:latin typeface="Urbanist"/>
                <a:ea typeface="Urbanist"/>
                <a:cs typeface="Urbanist"/>
                <a:sym typeface="Urbanist"/>
              </a:rPr>
              <a:t>Transactions</a:t>
            </a:r>
            <a:endParaRPr/>
          </a:p>
        </p:txBody>
      </p:sp>
      <p:sp>
        <p:nvSpPr>
          <p:cNvPr id="162" name="Google Shape;162;p16"/>
          <p:cNvSpPr txBox="1"/>
          <p:nvPr/>
        </p:nvSpPr>
        <p:spPr>
          <a:xfrm>
            <a:off x="3581400" y="3137594"/>
            <a:ext cx="2219325"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475569"/>
                </a:solidFill>
                <a:latin typeface="DM Sans"/>
                <a:ea typeface="DM Sans"/>
                <a:cs typeface="DM Sans"/>
                <a:sym typeface="DM Sans"/>
              </a:rPr>
              <a:t>Granular ledger of investor buy, sell, and switch orders.</a:t>
            </a:r>
            <a:endParaRPr/>
          </a:p>
        </p:txBody>
      </p:sp>
      <p:pic>
        <p:nvPicPr>
          <p:cNvPr descr="image.png" id="163" name="Google Shape;163;p16"/>
          <p:cNvPicPr preferRelativeResize="0"/>
          <p:nvPr/>
        </p:nvPicPr>
        <p:blipFill rotWithShape="1">
          <a:blip r:embed="rId12">
            <a:alphaModFix/>
          </a:blip>
          <a:srcRect b="0" l="0" r="0" t="0"/>
          <a:stretch/>
        </p:blipFill>
        <p:spPr>
          <a:xfrm>
            <a:off x="7329487" y="2385119"/>
            <a:ext cx="342900" cy="304800"/>
          </a:xfrm>
          <a:prstGeom prst="rect">
            <a:avLst/>
          </a:prstGeom>
          <a:noFill/>
          <a:ln>
            <a:noFill/>
          </a:ln>
        </p:spPr>
      </p:pic>
      <p:sp>
        <p:nvSpPr>
          <p:cNvPr id="164" name="Google Shape;164;p16"/>
          <p:cNvSpPr txBox="1"/>
          <p:nvPr/>
        </p:nvSpPr>
        <p:spPr>
          <a:xfrm>
            <a:off x="6335791" y="2832794"/>
            <a:ext cx="2330291"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172A"/>
                </a:solidFill>
                <a:latin typeface="Urbanist"/>
                <a:ea typeface="Urbanist"/>
                <a:cs typeface="Urbanist"/>
                <a:sym typeface="Urbanist"/>
              </a:rPr>
              <a:t>Performance</a:t>
            </a:r>
            <a:endParaRPr/>
          </a:p>
        </p:txBody>
      </p:sp>
      <p:sp>
        <p:nvSpPr>
          <p:cNvPr id="165" name="Google Shape;165;p16"/>
          <p:cNvSpPr txBox="1"/>
          <p:nvPr/>
        </p:nvSpPr>
        <p:spPr>
          <a:xfrm>
            <a:off x="6391275" y="3137594"/>
            <a:ext cx="2219325"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475569"/>
                </a:solidFill>
                <a:latin typeface="DM Sans"/>
                <a:ea typeface="DM Sans"/>
                <a:cs typeface="DM Sans"/>
                <a:sym typeface="DM Sans"/>
              </a:rPr>
              <a:t>Historical returns mapped against diverse category peers.</a:t>
            </a:r>
            <a:endParaRPr/>
          </a:p>
        </p:txBody>
      </p:sp>
      <p:pic>
        <p:nvPicPr>
          <p:cNvPr descr="image.png" id="166" name="Google Shape;166;p16"/>
          <p:cNvPicPr preferRelativeResize="0"/>
          <p:nvPr/>
        </p:nvPicPr>
        <p:blipFill rotWithShape="1">
          <a:blip r:embed="rId13">
            <a:alphaModFix/>
          </a:blip>
          <a:srcRect b="0" l="0" r="0" t="0"/>
          <a:stretch/>
        </p:blipFill>
        <p:spPr>
          <a:xfrm>
            <a:off x="10158412" y="2385119"/>
            <a:ext cx="304800" cy="304800"/>
          </a:xfrm>
          <a:prstGeom prst="rect">
            <a:avLst/>
          </a:prstGeom>
          <a:noFill/>
          <a:ln>
            <a:noFill/>
          </a:ln>
        </p:spPr>
      </p:pic>
      <p:sp>
        <p:nvSpPr>
          <p:cNvPr id="167" name="Google Shape;167;p16"/>
          <p:cNvSpPr txBox="1"/>
          <p:nvPr/>
        </p:nvSpPr>
        <p:spPr>
          <a:xfrm>
            <a:off x="9145666" y="2832794"/>
            <a:ext cx="2330291"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172A"/>
                </a:solidFill>
                <a:latin typeface="Urbanist"/>
                <a:ea typeface="Urbanist"/>
                <a:cs typeface="Urbanist"/>
                <a:sym typeface="Urbanist"/>
              </a:rPr>
              <a:t>AUM Data</a:t>
            </a:r>
            <a:endParaRPr/>
          </a:p>
        </p:txBody>
      </p:sp>
      <p:sp>
        <p:nvSpPr>
          <p:cNvPr id="168" name="Google Shape;168;p16"/>
          <p:cNvSpPr txBox="1"/>
          <p:nvPr/>
        </p:nvSpPr>
        <p:spPr>
          <a:xfrm>
            <a:off x="9201150" y="3137594"/>
            <a:ext cx="2219325"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475569"/>
                </a:solidFill>
                <a:latin typeface="DM Sans"/>
                <a:ea typeface="DM Sans"/>
                <a:cs typeface="DM Sans"/>
                <a:sym typeface="DM Sans"/>
              </a:rPr>
              <a:t>Asset Under Management metrics capturing size fluctuations.</a:t>
            </a:r>
            <a:endParaRPr/>
          </a:p>
        </p:txBody>
      </p:sp>
      <p:pic>
        <p:nvPicPr>
          <p:cNvPr descr="image.png" id="169" name="Google Shape;169;p16"/>
          <p:cNvPicPr preferRelativeResize="0"/>
          <p:nvPr/>
        </p:nvPicPr>
        <p:blipFill rotWithShape="1">
          <a:blip r:embed="rId14">
            <a:alphaModFix/>
          </a:blip>
          <a:srcRect b="0" l="0" r="0" t="0"/>
          <a:stretch/>
        </p:blipFill>
        <p:spPr>
          <a:xfrm>
            <a:off x="1709737" y="4124325"/>
            <a:ext cx="342900" cy="304800"/>
          </a:xfrm>
          <a:prstGeom prst="rect">
            <a:avLst/>
          </a:prstGeom>
          <a:noFill/>
          <a:ln>
            <a:noFill/>
          </a:ln>
        </p:spPr>
      </p:pic>
      <p:sp>
        <p:nvSpPr>
          <p:cNvPr id="170" name="Google Shape;170;p16"/>
          <p:cNvSpPr txBox="1"/>
          <p:nvPr/>
        </p:nvSpPr>
        <p:spPr>
          <a:xfrm>
            <a:off x="716041" y="4572000"/>
            <a:ext cx="2330291"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172A"/>
                </a:solidFill>
                <a:latin typeface="Urbanist"/>
                <a:ea typeface="Urbanist"/>
                <a:cs typeface="Urbanist"/>
                <a:sym typeface="Urbanist"/>
              </a:rPr>
              <a:t>SIP Inflows</a:t>
            </a:r>
            <a:endParaRPr/>
          </a:p>
        </p:txBody>
      </p:sp>
      <p:sp>
        <p:nvSpPr>
          <p:cNvPr id="171" name="Google Shape;171;p16"/>
          <p:cNvSpPr txBox="1"/>
          <p:nvPr/>
        </p:nvSpPr>
        <p:spPr>
          <a:xfrm>
            <a:off x="771525" y="4876800"/>
            <a:ext cx="2219325"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475569"/>
                </a:solidFill>
                <a:latin typeface="DM Sans"/>
                <a:ea typeface="DM Sans"/>
                <a:cs typeface="DM Sans"/>
                <a:sym typeface="DM Sans"/>
              </a:rPr>
              <a:t>Systematic Investment Plan recurring monthly cash flows.</a:t>
            </a:r>
            <a:endParaRPr/>
          </a:p>
        </p:txBody>
      </p:sp>
      <p:pic>
        <p:nvPicPr>
          <p:cNvPr descr="image.png" id="172" name="Google Shape;172;p16"/>
          <p:cNvPicPr preferRelativeResize="0"/>
          <p:nvPr/>
        </p:nvPicPr>
        <p:blipFill rotWithShape="1">
          <a:blip r:embed="rId15">
            <a:alphaModFix/>
          </a:blip>
          <a:srcRect b="0" l="0" r="0" t="0"/>
          <a:stretch/>
        </p:blipFill>
        <p:spPr>
          <a:xfrm>
            <a:off x="4519612" y="4124325"/>
            <a:ext cx="342900" cy="304800"/>
          </a:xfrm>
          <a:prstGeom prst="rect">
            <a:avLst/>
          </a:prstGeom>
          <a:noFill/>
          <a:ln>
            <a:noFill/>
          </a:ln>
        </p:spPr>
      </p:pic>
      <p:sp>
        <p:nvSpPr>
          <p:cNvPr id="173" name="Google Shape;173;p16"/>
          <p:cNvSpPr txBox="1"/>
          <p:nvPr/>
        </p:nvSpPr>
        <p:spPr>
          <a:xfrm>
            <a:off x="3525916" y="4572000"/>
            <a:ext cx="2330291"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172A"/>
                </a:solidFill>
                <a:latin typeface="Urbanist"/>
                <a:ea typeface="Urbanist"/>
                <a:cs typeface="Urbanist"/>
                <a:sym typeface="Urbanist"/>
              </a:rPr>
              <a:t>Category Inflows</a:t>
            </a:r>
            <a:endParaRPr/>
          </a:p>
        </p:txBody>
      </p:sp>
      <p:sp>
        <p:nvSpPr>
          <p:cNvPr id="174" name="Google Shape;174;p16"/>
          <p:cNvSpPr txBox="1"/>
          <p:nvPr/>
        </p:nvSpPr>
        <p:spPr>
          <a:xfrm>
            <a:off x="3581400" y="4876800"/>
            <a:ext cx="2219325"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475569"/>
                </a:solidFill>
                <a:latin typeface="DM Sans"/>
                <a:ea typeface="DM Sans"/>
                <a:cs typeface="DM Sans"/>
                <a:sym typeface="DM Sans"/>
              </a:rPr>
              <a:t>Sector allocation trends across Equity, Debt, and Hybrid.</a:t>
            </a:r>
            <a:endParaRPr/>
          </a:p>
        </p:txBody>
      </p:sp>
      <p:pic>
        <p:nvPicPr>
          <p:cNvPr descr="image.png" id="175" name="Google Shape;175;p16"/>
          <p:cNvPicPr preferRelativeResize="0"/>
          <p:nvPr/>
        </p:nvPicPr>
        <p:blipFill rotWithShape="1">
          <a:blip r:embed="rId16">
            <a:alphaModFix/>
          </a:blip>
          <a:srcRect b="0" l="0" r="0" t="0"/>
          <a:stretch/>
        </p:blipFill>
        <p:spPr>
          <a:xfrm>
            <a:off x="7348537" y="4124325"/>
            <a:ext cx="304800" cy="304800"/>
          </a:xfrm>
          <a:prstGeom prst="rect">
            <a:avLst/>
          </a:prstGeom>
          <a:noFill/>
          <a:ln>
            <a:noFill/>
          </a:ln>
        </p:spPr>
      </p:pic>
      <p:sp>
        <p:nvSpPr>
          <p:cNvPr id="176" name="Google Shape;176;p16"/>
          <p:cNvSpPr txBox="1"/>
          <p:nvPr/>
        </p:nvSpPr>
        <p:spPr>
          <a:xfrm>
            <a:off x="6335791" y="4572000"/>
            <a:ext cx="2330291"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172A"/>
                </a:solidFill>
                <a:latin typeface="Urbanist"/>
                <a:ea typeface="Urbanist"/>
                <a:cs typeface="Urbanist"/>
                <a:sym typeface="Urbanist"/>
              </a:rPr>
              <a:t>Holdings</a:t>
            </a:r>
            <a:endParaRPr/>
          </a:p>
        </p:txBody>
      </p:sp>
      <p:sp>
        <p:nvSpPr>
          <p:cNvPr id="177" name="Google Shape;177;p16"/>
          <p:cNvSpPr txBox="1"/>
          <p:nvPr/>
        </p:nvSpPr>
        <p:spPr>
          <a:xfrm>
            <a:off x="6391275" y="4876800"/>
            <a:ext cx="2219325"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475569"/>
                </a:solidFill>
                <a:latin typeface="DM Sans"/>
                <a:ea typeface="DM Sans"/>
                <a:cs typeface="DM Sans"/>
                <a:sym typeface="DM Sans"/>
              </a:rPr>
              <a:t>Stock-by-stock breakdowns and sector weighting of funds.</a:t>
            </a:r>
            <a:endParaRPr/>
          </a:p>
        </p:txBody>
      </p:sp>
      <p:pic>
        <p:nvPicPr>
          <p:cNvPr descr="image.png" id="178" name="Google Shape;178;p16"/>
          <p:cNvPicPr preferRelativeResize="0"/>
          <p:nvPr/>
        </p:nvPicPr>
        <p:blipFill rotWithShape="1">
          <a:blip r:embed="rId17">
            <a:alphaModFix/>
          </a:blip>
          <a:srcRect b="0" l="0" r="0" t="0"/>
          <a:stretch/>
        </p:blipFill>
        <p:spPr>
          <a:xfrm>
            <a:off x="10120312" y="4124325"/>
            <a:ext cx="381000" cy="304800"/>
          </a:xfrm>
          <a:prstGeom prst="rect">
            <a:avLst/>
          </a:prstGeom>
          <a:noFill/>
          <a:ln>
            <a:noFill/>
          </a:ln>
        </p:spPr>
      </p:pic>
      <p:sp>
        <p:nvSpPr>
          <p:cNvPr id="179" name="Google Shape;179;p16"/>
          <p:cNvSpPr txBox="1"/>
          <p:nvPr/>
        </p:nvSpPr>
        <p:spPr>
          <a:xfrm>
            <a:off x="9145666" y="4572000"/>
            <a:ext cx="2330291"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172A"/>
                </a:solidFill>
                <a:latin typeface="Urbanist"/>
                <a:ea typeface="Urbanist"/>
                <a:cs typeface="Urbanist"/>
                <a:sym typeface="Urbanist"/>
              </a:rPr>
              <a:t>Benchmarks</a:t>
            </a:r>
            <a:endParaRPr/>
          </a:p>
        </p:txBody>
      </p:sp>
      <p:sp>
        <p:nvSpPr>
          <p:cNvPr id="180" name="Google Shape;180;p16"/>
          <p:cNvSpPr txBox="1"/>
          <p:nvPr/>
        </p:nvSpPr>
        <p:spPr>
          <a:xfrm>
            <a:off x="9201150" y="4876800"/>
            <a:ext cx="2219325"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475569"/>
                </a:solidFill>
                <a:latin typeface="DM Sans"/>
                <a:ea typeface="DM Sans"/>
                <a:cs typeface="DM Sans"/>
                <a:sym typeface="DM Sans"/>
              </a:rPr>
              <a:t>Underlying indexes (Nifty 50, Sensex) for alpha checks.</a:t>
            </a:r>
            <a:endParaRPr/>
          </a:p>
        </p:txBody>
      </p:sp>
      <p:sp>
        <p:nvSpPr>
          <p:cNvPr id="181" name="Google Shape;181;p16"/>
          <p:cNvSpPr txBox="1"/>
          <p:nvPr/>
        </p:nvSpPr>
        <p:spPr>
          <a:xfrm>
            <a:off x="571500" y="47625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Urbanist"/>
                <a:ea typeface="Urbanist"/>
                <a:cs typeface="Urbanist"/>
                <a:sym typeface="Urbanist"/>
              </a:rPr>
              <a:t>CORE DATA SOURCES INGESTED</a:t>
            </a:r>
            <a:endParaRPr/>
          </a:p>
        </p:txBody>
      </p:sp>
      <p:sp>
        <p:nvSpPr>
          <p:cNvPr id="182" name="Google Shape;182;p16"/>
          <p:cNvSpPr/>
          <p:nvPr/>
        </p:nvSpPr>
        <p:spPr>
          <a:xfrm>
            <a:off x="571500" y="1009650"/>
            <a:ext cx="11049000" cy="28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86" name="Shape 186"/>
        <p:cNvGrpSpPr/>
        <p:nvPr/>
      </p:nvGrpSpPr>
      <p:grpSpPr>
        <a:xfrm>
          <a:off x="0" y="0"/>
          <a:ext cx="0" cy="0"/>
          <a:chOff x="0" y="0"/>
          <a:chExt cx="0" cy="0"/>
        </a:xfrm>
      </p:grpSpPr>
      <p:pic>
        <p:nvPicPr>
          <p:cNvPr descr="image.png" id="187" name="Google Shape;187;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8" name="Google Shape;188;p17"/>
          <p:cNvSpPr txBox="1"/>
          <p:nvPr/>
        </p:nvSpPr>
        <p:spPr>
          <a:xfrm>
            <a:off x="571500" y="2588865"/>
            <a:ext cx="1104900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64748B"/>
                </a:solidFill>
                <a:latin typeface="DM Sans"/>
                <a:ea typeface="DM Sans"/>
                <a:cs typeface="DM Sans"/>
                <a:sym typeface="DM Sans"/>
              </a:rPr>
              <a:t>Our robust software system automates ETL and surfaces downstream reporting channels.</a:t>
            </a:r>
            <a:endParaRPr/>
          </a:p>
        </p:txBody>
      </p:sp>
      <p:sp>
        <p:nvSpPr>
          <p:cNvPr id="189" name="Google Shape;189;p17"/>
          <p:cNvSpPr/>
          <p:nvPr/>
        </p:nvSpPr>
        <p:spPr>
          <a:xfrm>
            <a:off x="1047750" y="4005113"/>
            <a:ext cx="10096500" cy="381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90" name="Google Shape;190;p17"/>
          <p:cNvPicPr preferRelativeResize="0"/>
          <p:nvPr/>
        </p:nvPicPr>
        <p:blipFill rotWithShape="1">
          <a:blip r:embed="rId4">
            <a:alphaModFix/>
          </a:blip>
          <a:srcRect b="0" l="0" r="0" t="0"/>
          <a:stretch/>
        </p:blipFill>
        <p:spPr>
          <a:xfrm>
            <a:off x="1143000" y="3360390"/>
            <a:ext cx="476250" cy="476250"/>
          </a:xfrm>
          <a:prstGeom prst="rect">
            <a:avLst/>
          </a:prstGeom>
          <a:noFill/>
          <a:ln>
            <a:noFill/>
          </a:ln>
        </p:spPr>
      </p:pic>
      <p:sp>
        <p:nvSpPr>
          <p:cNvPr id="191" name="Google Shape;191;p17"/>
          <p:cNvSpPr txBox="1"/>
          <p:nvPr/>
        </p:nvSpPr>
        <p:spPr>
          <a:xfrm>
            <a:off x="971073" y="3979515"/>
            <a:ext cx="820102"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F172A"/>
                </a:solidFill>
                <a:latin typeface="Urbanist"/>
                <a:ea typeface="Urbanist"/>
                <a:cs typeface="Urbanist"/>
                <a:sym typeface="Urbanist"/>
              </a:rPr>
              <a:t>1. Raw Files</a:t>
            </a:r>
            <a:endParaRPr/>
          </a:p>
        </p:txBody>
      </p:sp>
      <p:sp>
        <p:nvSpPr>
          <p:cNvPr id="192" name="Google Shape;192;p17"/>
          <p:cNvSpPr txBox="1"/>
          <p:nvPr/>
        </p:nvSpPr>
        <p:spPr>
          <a:xfrm>
            <a:off x="666750" y="4208115"/>
            <a:ext cx="1428750" cy="47997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00" u="none" cap="none" strike="noStrike">
                <a:solidFill>
                  <a:srgbClr val="64748B"/>
                </a:solidFill>
                <a:latin typeface="DM Sans"/>
                <a:ea typeface="DM Sans"/>
                <a:cs typeface="DM Sans"/>
                <a:sym typeface="DM Sans"/>
              </a:rPr>
              <a:t>Distributed raw CSV files containing transactions &amp; asset listings.</a:t>
            </a:r>
            <a:endParaRPr/>
          </a:p>
        </p:txBody>
      </p:sp>
      <p:pic>
        <p:nvPicPr>
          <p:cNvPr descr="image.png" id="193" name="Google Shape;193;p17"/>
          <p:cNvPicPr preferRelativeResize="0"/>
          <p:nvPr/>
        </p:nvPicPr>
        <p:blipFill rotWithShape="1">
          <a:blip r:embed="rId5">
            <a:alphaModFix/>
          </a:blip>
          <a:srcRect b="0" l="0" r="0" t="0"/>
          <a:stretch/>
        </p:blipFill>
        <p:spPr>
          <a:xfrm>
            <a:off x="3028950" y="3360390"/>
            <a:ext cx="476250" cy="476250"/>
          </a:xfrm>
          <a:prstGeom prst="rect">
            <a:avLst/>
          </a:prstGeom>
          <a:noFill/>
          <a:ln>
            <a:noFill/>
          </a:ln>
        </p:spPr>
      </p:pic>
      <p:sp>
        <p:nvSpPr>
          <p:cNvPr id="194" name="Google Shape;194;p17"/>
          <p:cNvSpPr txBox="1"/>
          <p:nvPr/>
        </p:nvSpPr>
        <p:spPr>
          <a:xfrm>
            <a:off x="2852023" y="3979515"/>
            <a:ext cx="830103"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F172A"/>
                </a:solidFill>
                <a:latin typeface="Urbanist"/>
                <a:ea typeface="Urbanist"/>
                <a:cs typeface="Urbanist"/>
                <a:sym typeface="Urbanist"/>
              </a:rPr>
              <a:t>2. Cleaning</a:t>
            </a:r>
            <a:endParaRPr/>
          </a:p>
        </p:txBody>
      </p:sp>
      <p:sp>
        <p:nvSpPr>
          <p:cNvPr id="195" name="Google Shape;195;p17"/>
          <p:cNvSpPr txBox="1"/>
          <p:nvPr/>
        </p:nvSpPr>
        <p:spPr>
          <a:xfrm>
            <a:off x="2552700" y="4208115"/>
            <a:ext cx="1428750" cy="47997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00" u="none" cap="none" strike="noStrike">
                <a:solidFill>
                  <a:srgbClr val="64748B"/>
                </a:solidFill>
                <a:latin typeface="DM Sans"/>
                <a:ea typeface="DM Sans"/>
                <a:cs typeface="DM Sans"/>
                <a:sym typeface="DM Sans"/>
              </a:rPr>
              <a:t>Python script parses files, standardizes nulls, and formats types.</a:t>
            </a:r>
            <a:endParaRPr/>
          </a:p>
        </p:txBody>
      </p:sp>
      <p:pic>
        <p:nvPicPr>
          <p:cNvPr descr="image.png" id="196" name="Google Shape;196;p17"/>
          <p:cNvPicPr preferRelativeResize="0"/>
          <p:nvPr/>
        </p:nvPicPr>
        <p:blipFill rotWithShape="1">
          <a:blip r:embed="rId4">
            <a:alphaModFix/>
          </a:blip>
          <a:srcRect b="0" l="0" r="0" t="0"/>
          <a:stretch/>
        </p:blipFill>
        <p:spPr>
          <a:xfrm>
            <a:off x="4914900" y="3360390"/>
            <a:ext cx="476250" cy="476250"/>
          </a:xfrm>
          <a:prstGeom prst="rect">
            <a:avLst/>
          </a:prstGeom>
          <a:noFill/>
          <a:ln>
            <a:noFill/>
          </a:ln>
        </p:spPr>
      </p:pic>
      <p:sp>
        <p:nvSpPr>
          <p:cNvPr id="197" name="Google Shape;197;p17"/>
          <p:cNvSpPr txBox="1"/>
          <p:nvPr/>
        </p:nvSpPr>
        <p:spPr>
          <a:xfrm>
            <a:off x="4702968" y="3979515"/>
            <a:ext cx="900112"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F172A"/>
                </a:solidFill>
                <a:latin typeface="Urbanist"/>
                <a:ea typeface="Urbanist"/>
                <a:cs typeface="Urbanist"/>
                <a:sym typeface="Urbanist"/>
              </a:rPr>
              <a:t>3. SQLite DB</a:t>
            </a:r>
            <a:endParaRPr/>
          </a:p>
        </p:txBody>
      </p:sp>
      <p:sp>
        <p:nvSpPr>
          <p:cNvPr id="198" name="Google Shape;198;p17"/>
          <p:cNvSpPr txBox="1"/>
          <p:nvPr/>
        </p:nvSpPr>
        <p:spPr>
          <a:xfrm>
            <a:off x="4438650" y="4208115"/>
            <a:ext cx="1428750" cy="47997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00" u="none" cap="none" strike="noStrike">
                <a:solidFill>
                  <a:srgbClr val="64748B"/>
                </a:solidFill>
                <a:latin typeface="DM Sans"/>
                <a:ea typeface="DM Sans"/>
                <a:cs typeface="DM Sans"/>
                <a:sym typeface="DM Sans"/>
              </a:rPr>
              <a:t>Structured staging database holding validated table structures.</a:t>
            </a:r>
            <a:endParaRPr/>
          </a:p>
        </p:txBody>
      </p:sp>
      <p:pic>
        <p:nvPicPr>
          <p:cNvPr descr="image.png" id="199" name="Google Shape;199;p17"/>
          <p:cNvPicPr preferRelativeResize="0"/>
          <p:nvPr/>
        </p:nvPicPr>
        <p:blipFill rotWithShape="1">
          <a:blip r:embed="rId6">
            <a:alphaModFix/>
          </a:blip>
          <a:srcRect b="0" l="0" r="0" t="0"/>
          <a:stretch/>
        </p:blipFill>
        <p:spPr>
          <a:xfrm>
            <a:off x="6800850" y="3360390"/>
            <a:ext cx="476250" cy="476250"/>
          </a:xfrm>
          <a:prstGeom prst="rect">
            <a:avLst/>
          </a:prstGeom>
          <a:noFill/>
          <a:ln>
            <a:noFill/>
          </a:ln>
        </p:spPr>
      </p:pic>
      <p:sp>
        <p:nvSpPr>
          <p:cNvPr id="200" name="Google Shape;200;p17"/>
          <p:cNvSpPr txBox="1"/>
          <p:nvPr/>
        </p:nvSpPr>
        <p:spPr>
          <a:xfrm>
            <a:off x="6438900" y="3979515"/>
            <a:ext cx="1200150"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F172A"/>
                </a:solidFill>
                <a:latin typeface="Urbanist"/>
                <a:ea typeface="Urbanist"/>
                <a:cs typeface="Urbanist"/>
                <a:sym typeface="Urbanist"/>
              </a:rPr>
              <a:t>4. SQL Analytics</a:t>
            </a:r>
            <a:endParaRPr/>
          </a:p>
        </p:txBody>
      </p:sp>
      <p:sp>
        <p:nvSpPr>
          <p:cNvPr id="201" name="Google Shape;201;p17"/>
          <p:cNvSpPr txBox="1"/>
          <p:nvPr/>
        </p:nvSpPr>
        <p:spPr>
          <a:xfrm>
            <a:off x="6324600" y="4208115"/>
            <a:ext cx="1428750" cy="47997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00" u="none" cap="none" strike="noStrike">
                <a:solidFill>
                  <a:srgbClr val="64748B"/>
                </a:solidFill>
                <a:latin typeface="DM Sans"/>
                <a:ea typeface="DM Sans"/>
                <a:cs typeface="DM Sans"/>
                <a:sym typeface="DM Sans"/>
              </a:rPr>
              <a:t>Calculates aggregations, flows, and historical return grids.</a:t>
            </a:r>
            <a:endParaRPr/>
          </a:p>
        </p:txBody>
      </p:sp>
      <p:pic>
        <p:nvPicPr>
          <p:cNvPr descr="image.png" id="202" name="Google Shape;202;p17"/>
          <p:cNvPicPr preferRelativeResize="0"/>
          <p:nvPr/>
        </p:nvPicPr>
        <p:blipFill rotWithShape="1">
          <a:blip r:embed="rId4">
            <a:alphaModFix/>
          </a:blip>
          <a:srcRect b="0" l="0" r="0" t="0"/>
          <a:stretch/>
        </p:blipFill>
        <p:spPr>
          <a:xfrm>
            <a:off x="8686800" y="3360390"/>
            <a:ext cx="476250" cy="476250"/>
          </a:xfrm>
          <a:prstGeom prst="rect">
            <a:avLst/>
          </a:prstGeom>
          <a:noFill/>
          <a:ln>
            <a:noFill/>
          </a:ln>
        </p:spPr>
      </p:pic>
      <p:sp>
        <p:nvSpPr>
          <p:cNvPr id="203" name="Google Shape;203;p17"/>
          <p:cNvSpPr txBox="1"/>
          <p:nvPr/>
        </p:nvSpPr>
        <p:spPr>
          <a:xfrm>
            <a:off x="8419861" y="3979515"/>
            <a:ext cx="1010126"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F172A"/>
                </a:solidFill>
                <a:latin typeface="Urbanist"/>
                <a:ea typeface="Urbanist"/>
                <a:cs typeface="Urbanist"/>
                <a:sym typeface="Urbanist"/>
              </a:rPr>
              <a:t>5. Risk Engine</a:t>
            </a:r>
            <a:endParaRPr/>
          </a:p>
        </p:txBody>
      </p:sp>
      <p:sp>
        <p:nvSpPr>
          <p:cNvPr id="204" name="Google Shape;204;p17"/>
          <p:cNvSpPr txBox="1"/>
          <p:nvPr/>
        </p:nvSpPr>
        <p:spPr>
          <a:xfrm>
            <a:off x="8210550" y="4208115"/>
            <a:ext cx="1428750" cy="47997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00" u="none" cap="none" strike="noStrike">
                <a:solidFill>
                  <a:srgbClr val="64748B"/>
                </a:solidFill>
                <a:latin typeface="DM Sans"/>
                <a:ea typeface="DM Sans"/>
                <a:cs typeface="DM Sans"/>
                <a:sym typeface="DM Sans"/>
              </a:rPr>
              <a:t>Quantifies volatility, drawdowns, and market risk betas.</a:t>
            </a:r>
            <a:endParaRPr/>
          </a:p>
        </p:txBody>
      </p:sp>
      <p:pic>
        <p:nvPicPr>
          <p:cNvPr descr="image.png" id="205" name="Google Shape;205;p17"/>
          <p:cNvPicPr preferRelativeResize="0"/>
          <p:nvPr/>
        </p:nvPicPr>
        <p:blipFill rotWithShape="1">
          <a:blip r:embed="rId5">
            <a:alphaModFix/>
          </a:blip>
          <a:srcRect b="0" l="0" r="0" t="0"/>
          <a:stretch/>
        </p:blipFill>
        <p:spPr>
          <a:xfrm>
            <a:off x="10572750" y="3360390"/>
            <a:ext cx="476250" cy="476250"/>
          </a:xfrm>
          <a:prstGeom prst="rect">
            <a:avLst/>
          </a:prstGeom>
          <a:noFill/>
          <a:ln>
            <a:noFill/>
          </a:ln>
        </p:spPr>
      </p:pic>
      <p:sp>
        <p:nvSpPr>
          <p:cNvPr id="206" name="Google Shape;206;p17"/>
          <p:cNvSpPr txBox="1"/>
          <p:nvPr/>
        </p:nvSpPr>
        <p:spPr>
          <a:xfrm>
            <a:off x="10420826" y="3979515"/>
            <a:ext cx="780097"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0F172A"/>
                </a:solidFill>
                <a:latin typeface="Urbanist"/>
                <a:ea typeface="Urbanist"/>
                <a:cs typeface="Urbanist"/>
                <a:sym typeface="Urbanist"/>
              </a:rPr>
              <a:t>6. Power BI</a:t>
            </a:r>
            <a:endParaRPr/>
          </a:p>
        </p:txBody>
      </p:sp>
      <p:sp>
        <p:nvSpPr>
          <p:cNvPr id="207" name="Google Shape;207;p17"/>
          <p:cNvSpPr txBox="1"/>
          <p:nvPr/>
        </p:nvSpPr>
        <p:spPr>
          <a:xfrm>
            <a:off x="10096500" y="4208115"/>
            <a:ext cx="1428750" cy="47997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900" u="none" cap="none" strike="noStrike">
                <a:solidFill>
                  <a:srgbClr val="64748B"/>
                </a:solidFill>
                <a:latin typeface="DM Sans"/>
                <a:ea typeface="DM Sans"/>
                <a:cs typeface="DM Sans"/>
                <a:sym typeface="DM Sans"/>
              </a:rPr>
              <a:t>Visual presentation layer for dynamic analytical reviews.</a:t>
            </a:r>
            <a:endParaRPr/>
          </a:p>
        </p:txBody>
      </p:sp>
      <p:pic>
        <p:nvPicPr>
          <p:cNvPr descr="image.png" id="208" name="Google Shape;208;p17"/>
          <p:cNvPicPr preferRelativeResize="0"/>
          <p:nvPr/>
        </p:nvPicPr>
        <p:blipFill rotWithShape="1">
          <a:blip r:embed="rId7">
            <a:alphaModFix/>
          </a:blip>
          <a:srcRect b="0" l="0" r="0" t="0"/>
          <a:stretch/>
        </p:blipFill>
        <p:spPr>
          <a:xfrm>
            <a:off x="1309687" y="3503265"/>
            <a:ext cx="142875" cy="190500"/>
          </a:xfrm>
          <a:prstGeom prst="rect">
            <a:avLst/>
          </a:prstGeom>
          <a:noFill/>
          <a:ln>
            <a:noFill/>
          </a:ln>
        </p:spPr>
      </p:pic>
      <p:pic>
        <p:nvPicPr>
          <p:cNvPr descr="image.png" id="209" name="Google Shape;209;p17"/>
          <p:cNvPicPr preferRelativeResize="0"/>
          <p:nvPr/>
        </p:nvPicPr>
        <p:blipFill rotWithShape="1">
          <a:blip r:embed="rId8">
            <a:alphaModFix/>
          </a:blip>
          <a:srcRect b="0" l="0" r="0" t="0"/>
          <a:stretch/>
        </p:blipFill>
        <p:spPr>
          <a:xfrm>
            <a:off x="3157537" y="3503265"/>
            <a:ext cx="219075" cy="190500"/>
          </a:xfrm>
          <a:prstGeom prst="rect">
            <a:avLst/>
          </a:prstGeom>
          <a:noFill/>
          <a:ln>
            <a:noFill/>
          </a:ln>
        </p:spPr>
      </p:pic>
      <p:pic>
        <p:nvPicPr>
          <p:cNvPr descr="image.png" id="210" name="Google Shape;210;p17"/>
          <p:cNvPicPr preferRelativeResize="0"/>
          <p:nvPr/>
        </p:nvPicPr>
        <p:blipFill rotWithShape="1">
          <a:blip r:embed="rId9">
            <a:alphaModFix/>
          </a:blip>
          <a:srcRect b="0" l="0" r="0" t="0"/>
          <a:stretch/>
        </p:blipFill>
        <p:spPr>
          <a:xfrm>
            <a:off x="5057775" y="3503265"/>
            <a:ext cx="190500" cy="190500"/>
          </a:xfrm>
          <a:prstGeom prst="rect">
            <a:avLst/>
          </a:prstGeom>
          <a:noFill/>
          <a:ln>
            <a:noFill/>
          </a:ln>
        </p:spPr>
      </p:pic>
      <p:pic>
        <p:nvPicPr>
          <p:cNvPr descr="image.png" id="211" name="Google Shape;211;p17"/>
          <p:cNvPicPr preferRelativeResize="0"/>
          <p:nvPr/>
        </p:nvPicPr>
        <p:blipFill rotWithShape="1">
          <a:blip r:embed="rId10">
            <a:alphaModFix/>
          </a:blip>
          <a:srcRect b="0" l="0" r="0" t="0"/>
          <a:stretch/>
        </p:blipFill>
        <p:spPr>
          <a:xfrm>
            <a:off x="6967537" y="3503265"/>
            <a:ext cx="142875" cy="190500"/>
          </a:xfrm>
          <a:prstGeom prst="rect">
            <a:avLst/>
          </a:prstGeom>
          <a:noFill/>
          <a:ln>
            <a:noFill/>
          </a:ln>
        </p:spPr>
      </p:pic>
      <p:pic>
        <p:nvPicPr>
          <p:cNvPr descr="image.png" id="212" name="Google Shape;212;p17"/>
          <p:cNvPicPr preferRelativeResize="0"/>
          <p:nvPr/>
        </p:nvPicPr>
        <p:blipFill rotWithShape="1">
          <a:blip r:embed="rId11">
            <a:alphaModFix/>
          </a:blip>
          <a:srcRect b="0" l="0" r="0" t="0"/>
          <a:stretch/>
        </p:blipFill>
        <p:spPr>
          <a:xfrm>
            <a:off x="8829675" y="3503265"/>
            <a:ext cx="190500" cy="190500"/>
          </a:xfrm>
          <a:prstGeom prst="rect">
            <a:avLst/>
          </a:prstGeom>
          <a:noFill/>
          <a:ln>
            <a:noFill/>
          </a:ln>
        </p:spPr>
      </p:pic>
      <p:pic>
        <p:nvPicPr>
          <p:cNvPr descr="image.png" id="213" name="Google Shape;213;p17"/>
          <p:cNvPicPr preferRelativeResize="0"/>
          <p:nvPr/>
        </p:nvPicPr>
        <p:blipFill rotWithShape="1">
          <a:blip r:embed="rId12">
            <a:alphaModFix/>
          </a:blip>
          <a:srcRect b="0" l="0" r="0" t="0"/>
          <a:stretch/>
        </p:blipFill>
        <p:spPr>
          <a:xfrm>
            <a:off x="10701337" y="3503265"/>
            <a:ext cx="219075" cy="190500"/>
          </a:xfrm>
          <a:prstGeom prst="rect">
            <a:avLst/>
          </a:prstGeom>
          <a:noFill/>
          <a:ln>
            <a:noFill/>
          </a:ln>
        </p:spPr>
      </p:pic>
      <p:sp>
        <p:nvSpPr>
          <p:cNvPr id="214" name="Google Shape;214;p17"/>
          <p:cNvSpPr txBox="1"/>
          <p:nvPr/>
        </p:nvSpPr>
        <p:spPr>
          <a:xfrm>
            <a:off x="571500" y="47625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Urbanist"/>
                <a:ea typeface="Urbanist"/>
                <a:cs typeface="Urbanist"/>
                <a:sym typeface="Urbanist"/>
              </a:rPr>
              <a:t>SYSTEM ARCHITECTURE</a:t>
            </a:r>
            <a:endParaRPr/>
          </a:p>
        </p:txBody>
      </p:sp>
      <p:sp>
        <p:nvSpPr>
          <p:cNvPr id="215" name="Google Shape;215;p17"/>
          <p:cNvSpPr/>
          <p:nvPr/>
        </p:nvSpPr>
        <p:spPr>
          <a:xfrm>
            <a:off x="571500" y="1009650"/>
            <a:ext cx="11049000" cy="28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9" name="Shape 219"/>
        <p:cNvGrpSpPr/>
        <p:nvPr/>
      </p:nvGrpSpPr>
      <p:grpSpPr>
        <a:xfrm>
          <a:off x="0" y="0"/>
          <a:ext cx="0" cy="0"/>
          <a:chOff x="0" y="0"/>
          <a:chExt cx="0" cy="0"/>
        </a:xfrm>
      </p:grpSpPr>
      <p:pic>
        <p:nvPicPr>
          <p:cNvPr descr="image.png" id="220" name="Google Shape;22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1" name="Google Shape;221;p18"/>
          <p:cNvPicPr preferRelativeResize="0"/>
          <p:nvPr/>
        </p:nvPicPr>
        <p:blipFill rotWithShape="1">
          <a:blip r:embed="rId4">
            <a:alphaModFix/>
          </a:blip>
          <a:srcRect b="0" l="0" r="0" t="0"/>
          <a:stretch/>
        </p:blipFill>
        <p:spPr>
          <a:xfrm>
            <a:off x="6286500" y="2066925"/>
            <a:ext cx="5334000" cy="3524250"/>
          </a:xfrm>
          <a:prstGeom prst="rect">
            <a:avLst/>
          </a:prstGeom>
          <a:noFill/>
          <a:ln>
            <a:noFill/>
          </a:ln>
        </p:spPr>
      </p:pic>
      <p:pic>
        <p:nvPicPr>
          <p:cNvPr descr="image.png" id="222" name="Google Shape;222;p18"/>
          <p:cNvPicPr preferRelativeResize="0"/>
          <p:nvPr/>
        </p:nvPicPr>
        <p:blipFill rotWithShape="1">
          <a:blip r:embed="rId5">
            <a:alphaModFix/>
          </a:blip>
          <a:srcRect b="0" l="0" r="0" t="0"/>
          <a:stretch/>
        </p:blipFill>
        <p:spPr>
          <a:xfrm>
            <a:off x="6438900" y="5267325"/>
            <a:ext cx="5029200" cy="171450"/>
          </a:xfrm>
          <a:prstGeom prst="rect">
            <a:avLst/>
          </a:prstGeom>
          <a:noFill/>
          <a:ln>
            <a:noFill/>
          </a:ln>
        </p:spPr>
      </p:pic>
      <p:sp>
        <p:nvSpPr>
          <p:cNvPr id="223" name="Google Shape;223;p18"/>
          <p:cNvSpPr txBox="1"/>
          <p:nvPr/>
        </p:nvSpPr>
        <p:spPr>
          <a:xfrm>
            <a:off x="571500" y="2338387"/>
            <a:ext cx="560070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E3A8A"/>
                </a:solidFill>
                <a:latin typeface="Urbanist"/>
                <a:ea typeface="Urbanist"/>
                <a:cs typeface="Urbanist"/>
                <a:sym typeface="Urbanist"/>
              </a:rPr>
              <a:t>Visualizing Portfolio Expansion</a:t>
            </a:r>
            <a:endParaRPr/>
          </a:p>
        </p:txBody>
      </p:sp>
      <p:sp>
        <p:nvSpPr>
          <p:cNvPr id="224" name="Google Shape;224;p18"/>
          <p:cNvSpPr txBox="1"/>
          <p:nvPr/>
        </p:nvSpPr>
        <p:spPr>
          <a:xfrm>
            <a:off x="571500" y="2757487"/>
            <a:ext cx="533400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DM Sans"/>
                <a:ea typeface="DM Sans"/>
                <a:cs typeface="DM Sans"/>
                <a:sym typeface="DM Sans"/>
              </a:rPr>
              <a:t>Our trend modeling tracks AUM trajectories alongside relative daily NAV variations. This reveals that hybrid asset vehicles received robust structural demand during localized equity corrections.</a:t>
            </a:r>
            <a:endParaRPr/>
          </a:p>
        </p:txBody>
      </p:sp>
      <p:sp>
        <p:nvSpPr>
          <p:cNvPr id="225" name="Google Shape;225;p18"/>
          <p:cNvSpPr txBox="1"/>
          <p:nvPr/>
        </p:nvSpPr>
        <p:spPr>
          <a:xfrm>
            <a:off x="904875" y="3586162"/>
            <a:ext cx="500062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AUM Milestones:</a:t>
            </a:r>
            <a:r>
              <a:rPr b="0" i="0" lang="en-US" sz="1350" u="none" cap="none" strike="noStrike">
                <a:solidFill>
                  <a:srgbClr val="334155"/>
                </a:solidFill>
                <a:latin typeface="DM Sans"/>
                <a:ea typeface="DM Sans"/>
                <a:cs typeface="DM Sans"/>
                <a:sym typeface="DM Sans"/>
              </a:rPr>
              <a:t> Aggregate AUM grew 28% YoY across primary equity funds.</a:t>
            </a:r>
            <a:endParaRPr/>
          </a:p>
        </p:txBody>
      </p:sp>
      <p:sp>
        <p:nvSpPr>
          <p:cNvPr id="226" name="Google Shape;226;p18"/>
          <p:cNvSpPr txBox="1"/>
          <p:nvPr/>
        </p:nvSpPr>
        <p:spPr>
          <a:xfrm>
            <a:off x="904875" y="4195762"/>
            <a:ext cx="500062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Inflow Triggers:</a:t>
            </a:r>
            <a:r>
              <a:rPr b="0" i="0" lang="en-US" sz="1350" u="none" cap="none" strike="noStrike">
                <a:solidFill>
                  <a:srgbClr val="334155"/>
                </a:solidFill>
                <a:latin typeface="DM Sans"/>
                <a:ea typeface="DM Sans"/>
                <a:cs typeface="DM Sans"/>
                <a:sym typeface="DM Sans"/>
              </a:rPr>
              <a:t> Sharp inflow spikes closely align with positive market sentiment cycles.</a:t>
            </a:r>
            <a:endParaRPr/>
          </a:p>
        </p:txBody>
      </p:sp>
      <p:sp>
        <p:nvSpPr>
          <p:cNvPr id="227" name="Google Shape;227;p18"/>
          <p:cNvSpPr txBox="1"/>
          <p:nvPr/>
        </p:nvSpPr>
        <p:spPr>
          <a:xfrm>
            <a:off x="904875" y="4805362"/>
            <a:ext cx="500062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Category Lead:</a:t>
            </a:r>
            <a:r>
              <a:rPr b="0" i="0" lang="en-US" sz="1350" u="none" cap="none" strike="noStrike">
                <a:solidFill>
                  <a:srgbClr val="334155"/>
                </a:solidFill>
                <a:latin typeface="DM Sans"/>
                <a:ea typeface="DM Sans"/>
                <a:cs typeface="DM Sans"/>
                <a:sym typeface="DM Sans"/>
              </a:rPr>
              <a:t> Small and mid-cap funds showed higher asset velocity.</a:t>
            </a:r>
            <a:endParaRPr/>
          </a:p>
        </p:txBody>
      </p:sp>
      <p:sp>
        <p:nvSpPr>
          <p:cNvPr id="228" name="Google Shape;228;p18"/>
          <p:cNvSpPr/>
          <p:nvPr/>
        </p:nvSpPr>
        <p:spPr>
          <a:xfrm>
            <a:off x="7839075" y="5295900"/>
            <a:ext cx="114300" cy="114300"/>
          </a:xfrm>
          <a:prstGeom prst="roundRect">
            <a:avLst>
              <a:gd fmla="val 25000" name="adj"/>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18"/>
          <p:cNvSpPr txBox="1"/>
          <p:nvPr/>
        </p:nvSpPr>
        <p:spPr>
          <a:xfrm>
            <a:off x="8029575" y="5267325"/>
            <a:ext cx="20383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DM Sans"/>
                <a:ea typeface="DM Sans"/>
                <a:cs typeface="DM Sans"/>
                <a:sym typeface="DM Sans"/>
              </a:rPr>
              <a:t>AUM Cumulative Growth (Crores)</a:t>
            </a:r>
            <a:endParaRPr/>
          </a:p>
        </p:txBody>
      </p:sp>
      <p:pic>
        <p:nvPicPr>
          <p:cNvPr descr="image.png" id="230" name="Google Shape;230;p18"/>
          <p:cNvPicPr preferRelativeResize="0"/>
          <p:nvPr/>
        </p:nvPicPr>
        <p:blipFill rotWithShape="1">
          <a:blip r:embed="rId6">
            <a:alphaModFix/>
          </a:blip>
          <a:srcRect b="0" l="0" r="0" t="0"/>
          <a:stretch/>
        </p:blipFill>
        <p:spPr>
          <a:xfrm>
            <a:off x="571500" y="3619500"/>
            <a:ext cx="190500" cy="200025"/>
          </a:xfrm>
          <a:prstGeom prst="rect">
            <a:avLst/>
          </a:prstGeom>
          <a:noFill/>
          <a:ln>
            <a:noFill/>
          </a:ln>
        </p:spPr>
      </p:pic>
      <p:pic>
        <p:nvPicPr>
          <p:cNvPr descr="image.png" id="231" name="Google Shape;231;p18"/>
          <p:cNvPicPr preferRelativeResize="0"/>
          <p:nvPr/>
        </p:nvPicPr>
        <p:blipFill rotWithShape="1">
          <a:blip r:embed="rId6">
            <a:alphaModFix/>
          </a:blip>
          <a:srcRect b="0" l="0" r="0" t="0"/>
          <a:stretch/>
        </p:blipFill>
        <p:spPr>
          <a:xfrm>
            <a:off x="571500" y="4229100"/>
            <a:ext cx="190500" cy="200025"/>
          </a:xfrm>
          <a:prstGeom prst="rect">
            <a:avLst/>
          </a:prstGeom>
          <a:noFill/>
          <a:ln>
            <a:noFill/>
          </a:ln>
        </p:spPr>
      </p:pic>
      <p:pic>
        <p:nvPicPr>
          <p:cNvPr descr="image.png" id="232" name="Google Shape;232;p18"/>
          <p:cNvPicPr preferRelativeResize="0"/>
          <p:nvPr/>
        </p:nvPicPr>
        <p:blipFill rotWithShape="1">
          <a:blip r:embed="rId6">
            <a:alphaModFix/>
          </a:blip>
          <a:srcRect b="0" l="0" r="0" t="0"/>
          <a:stretch/>
        </p:blipFill>
        <p:spPr>
          <a:xfrm>
            <a:off x="571500" y="4838700"/>
            <a:ext cx="190500" cy="200025"/>
          </a:xfrm>
          <a:prstGeom prst="rect">
            <a:avLst/>
          </a:prstGeom>
          <a:noFill/>
          <a:ln>
            <a:noFill/>
          </a:ln>
        </p:spPr>
      </p:pic>
      <p:sp>
        <p:nvSpPr>
          <p:cNvPr id="233" name="Google Shape;233;p18"/>
          <p:cNvSpPr txBox="1"/>
          <p:nvPr/>
        </p:nvSpPr>
        <p:spPr>
          <a:xfrm>
            <a:off x="571500" y="47625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Urbanist"/>
                <a:ea typeface="Urbanist"/>
                <a:cs typeface="Urbanist"/>
                <a:sym typeface="Urbanist"/>
              </a:rPr>
              <a:t>NAV &amp; AUM GROWTH TRENDS</a:t>
            </a:r>
            <a:endParaRPr/>
          </a:p>
        </p:txBody>
      </p:sp>
      <p:sp>
        <p:nvSpPr>
          <p:cNvPr id="234" name="Google Shape;234;p18"/>
          <p:cNvSpPr/>
          <p:nvPr/>
        </p:nvSpPr>
        <p:spPr>
          <a:xfrm>
            <a:off x="571500" y="1009650"/>
            <a:ext cx="11049000" cy="28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38" name="Shape 238"/>
        <p:cNvGrpSpPr/>
        <p:nvPr/>
      </p:nvGrpSpPr>
      <p:grpSpPr>
        <a:xfrm>
          <a:off x="0" y="0"/>
          <a:ext cx="0" cy="0"/>
          <a:chOff x="0" y="0"/>
          <a:chExt cx="0" cy="0"/>
        </a:xfrm>
      </p:grpSpPr>
      <p:pic>
        <p:nvPicPr>
          <p:cNvPr descr="image.png" id="239" name="Google Shape;239;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0" name="Google Shape;240;p19"/>
          <p:cNvPicPr preferRelativeResize="0"/>
          <p:nvPr/>
        </p:nvPicPr>
        <p:blipFill rotWithShape="1">
          <a:blip r:embed="rId4">
            <a:alphaModFix/>
          </a:blip>
          <a:srcRect b="0" l="0" r="0" t="0"/>
          <a:stretch/>
        </p:blipFill>
        <p:spPr>
          <a:xfrm>
            <a:off x="571500" y="2686050"/>
            <a:ext cx="5334000" cy="2286000"/>
          </a:xfrm>
          <a:prstGeom prst="rect">
            <a:avLst/>
          </a:prstGeom>
          <a:noFill/>
          <a:ln>
            <a:noFill/>
          </a:ln>
        </p:spPr>
      </p:pic>
      <p:sp>
        <p:nvSpPr>
          <p:cNvPr id="241" name="Google Shape;241;p19"/>
          <p:cNvSpPr txBox="1"/>
          <p:nvPr/>
        </p:nvSpPr>
        <p:spPr>
          <a:xfrm>
            <a:off x="6286500" y="2409825"/>
            <a:ext cx="560070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E3A8A"/>
                </a:solidFill>
                <a:latin typeface="Urbanist"/>
                <a:ea typeface="Urbanist"/>
                <a:cs typeface="Urbanist"/>
                <a:sym typeface="Urbanist"/>
              </a:rPr>
              <a:t>Demographic Inferences</a:t>
            </a:r>
            <a:endParaRPr/>
          </a:p>
        </p:txBody>
      </p:sp>
      <p:sp>
        <p:nvSpPr>
          <p:cNvPr id="242" name="Google Shape;242;p19"/>
          <p:cNvSpPr txBox="1"/>
          <p:nvPr/>
        </p:nvSpPr>
        <p:spPr>
          <a:xfrm>
            <a:off x="6286500" y="2828925"/>
            <a:ext cx="5334000"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475569"/>
                </a:solidFill>
                <a:latin typeface="DM Sans"/>
                <a:ea typeface="DM Sans"/>
                <a:cs typeface="DM Sans"/>
                <a:sym typeface="DM Sans"/>
              </a:rPr>
              <a:t>The SQL transactional profile mining exposes deep behavior matrices concerning systematic investing schedules.</a:t>
            </a:r>
            <a:endParaRPr/>
          </a:p>
        </p:txBody>
      </p:sp>
      <p:sp>
        <p:nvSpPr>
          <p:cNvPr id="243" name="Google Shape;243;p19"/>
          <p:cNvSpPr txBox="1"/>
          <p:nvPr/>
        </p:nvSpPr>
        <p:spPr>
          <a:xfrm>
            <a:off x="3198762" y="4035921"/>
            <a:ext cx="1905000" cy="519707"/>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64748B"/>
                </a:solidFill>
                <a:latin typeface="DM Sans"/>
                <a:ea typeface="DM Sans"/>
                <a:cs typeface="DM Sans"/>
                <a:sym typeface="DM Sans"/>
              </a:rPr>
              <a:t>Expanding penetration into tier-2 &amp; tier-3 towns driving B30 segment expansion.</a:t>
            </a:r>
            <a:endParaRPr/>
          </a:p>
        </p:txBody>
      </p:sp>
      <p:sp>
        <p:nvSpPr>
          <p:cNvPr id="244" name="Google Shape;244;p19"/>
          <p:cNvSpPr txBox="1"/>
          <p:nvPr/>
        </p:nvSpPr>
        <p:spPr>
          <a:xfrm>
            <a:off x="6619875" y="3476625"/>
            <a:ext cx="500062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Age Profile:</a:t>
            </a:r>
            <a:r>
              <a:rPr b="0" i="0" lang="en-US" sz="1350" u="none" cap="none" strike="noStrike">
                <a:solidFill>
                  <a:srgbClr val="334155"/>
                </a:solidFill>
                <a:latin typeface="DM Sans"/>
                <a:ea typeface="DM Sans"/>
                <a:cs typeface="DM Sans"/>
                <a:sym typeface="DM Sans"/>
              </a:rPr>
              <a:t> Dominant investment demographic lies in the 28-45 range, illustrating substantial digital platform onboarding.</a:t>
            </a:r>
            <a:endParaRPr/>
          </a:p>
        </p:txBody>
      </p:sp>
      <p:sp>
        <p:nvSpPr>
          <p:cNvPr id="245" name="Google Shape;245;p19"/>
          <p:cNvSpPr txBox="1"/>
          <p:nvPr/>
        </p:nvSpPr>
        <p:spPr>
          <a:xfrm>
            <a:off x="6619875" y="4105275"/>
            <a:ext cx="500062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Gender Distribution:</a:t>
            </a:r>
            <a:r>
              <a:rPr b="0" i="0" lang="en-US" sz="1350" u="none" cap="none" strike="noStrike">
                <a:solidFill>
                  <a:srgbClr val="334155"/>
                </a:solidFill>
                <a:latin typeface="DM Sans"/>
                <a:ea typeface="DM Sans"/>
                <a:cs typeface="DM Sans"/>
                <a:sym typeface="DM Sans"/>
              </a:rPr>
              <a:t> 62% Male and 38% Female investor footprint, with female participation growing 5% year over year.</a:t>
            </a:r>
            <a:endParaRPr/>
          </a:p>
        </p:txBody>
      </p:sp>
      <p:sp>
        <p:nvSpPr>
          <p:cNvPr id="246" name="Google Shape;246;p19"/>
          <p:cNvSpPr txBox="1"/>
          <p:nvPr/>
        </p:nvSpPr>
        <p:spPr>
          <a:xfrm>
            <a:off x="6619875" y="4733925"/>
            <a:ext cx="500062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DM Sans"/>
                <a:ea typeface="DM Sans"/>
                <a:cs typeface="DM Sans"/>
                <a:sym typeface="DM Sans"/>
              </a:rPr>
              <a:t>State Volume Leaders:</a:t>
            </a:r>
            <a:r>
              <a:rPr b="0" i="0" lang="en-US" sz="1350" u="none" cap="none" strike="noStrike">
                <a:solidFill>
                  <a:srgbClr val="334155"/>
                </a:solidFill>
                <a:latin typeface="DM Sans"/>
                <a:ea typeface="DM Sans"/>
                <a:cs typeface="DM Sans"/>
                <a:sym typeface="DM Sans"/>
              </a:rPr>
              <a:t> Maharashtra leads total capital deployment, followed by Gujarat and Karnataka.</a:t>
            </a:r>
            <a:endParaRPr/>
          </a:p>
        </p:txBody>
      </p:sp>
      <p:sp>
        <p:nvSpPr>
          <p:cNvPr id="247" name="Google Shape;247;p19"/>
          <p:cNvSpPr/>
          <p:nvPr/>
        </p:nvSpPr>
        <p:spPr>
          <a:xfrm>
            <a:off x="3198762" y="3126283"/>
            <a:ext cx="152400" cy="152400"/>
          </a:xfrm>
          <a:prstGeom prst="roundRect">
            <a:avLst>
              <a:gd fmla="val 18750" name="adj"/>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19"/>
          <p:cNvSpPr txBox="1"/>
          <p:nvPr/>
        </p:nvSpPr>
        <p:spPr>
          <a:xfrm>
            <a:off x="3427362" y="3102471"/>
            <a:ext cx="22002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DM Sans"/>
                <a:ea typeface="DM Sans"/>
                <a:cs typeface="DM Sans"/>
                <a:sym typeface="DM Sans"/>
              </a:rPr>
              <a:t>T30 Cities (Metro):</a:t>
            </a:r>
            <a:r>
              <a:rPr b="0" i="0" lang="en-US" sz="1200" u="none" cap="none" strike="noStrike">
                <a:solidFill>
                  <a:srgbClr val="475569"/>
                </a:solidFill>
                <a:latin typeface="DM Sans"/>
                <a:ea typeface="DM Sans"/>
                <a:cs typeface="DM Sans"/>
                <a:sym typeface="DM Sans"/>
              </a:rPr>
              <a:t> 65% Share</a:t>
            </a:r>
            <a:endParaRPr/>
          </a:p>
        </p:txBody>
      </p:sp>
      <p:sp>
        <p:nvSpPr>
          <p:cNvPr id="249" name="Google Shape;249;p19"/>
          <p:cNvSpPr/>
          <p:nvPr/>
        </p:nvSpPr>
        <p:spPr>
          <a:xfrm>
            <a:off x="3198762" y="3569196"/>
            <a:ext cx="143172" cy="152400"/>
          </a:xfrm>
          <a:prstGeom prst="roundRect">
            <a:avLst>
              <a:gd fmla="val 19958" name="adj"/>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19"/>
          <p:cNvSpPr txBox="1"/>
          <p:nvPr/>
        </p:nvSpPr>
        <p:spPr>
          <a:xfrm>
            <a:off x="3418135" y="3445371"/>
            <a:ext cx="2487364"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DM Sans"/>
                <a:ea typeface="DM Sans"/>
                <a:cs typeface="DM Sans"/>
                <a:sym typeface="DM Sans"/>
              </a:rPr>
              <a:t>B30 Cities (Semi-Urban):</a:t>
            </a:r>
            <a:r>
              <a:rPr b="0" i="0" lang="en-US" sz="1200" u="none" cap="none" strike="noStrike">
                <a:solidFill>
                  <a:srgbClr val="475569"/>
                </a:solidFill>
                <a:latin typeface="DM Sans"/>
                <a:ea typeface="DM Sans"/>
                <a:cs typeface="DM Sans"/>
                <a:sym typeface="DM Sans"/>
              </a:rPr>
              <a:t> 35% Share</a:t>
            </a:r>
            <a:endParaRPr/>
          </a:p>
        </p:txBody>
      </p:sp>
      <p:pic>
        <p:nvPicPr>
          <p:cNvPr descr="image.png" id="251" name="Google Shape;251;p19"/>
          <p:cNvPicPr preferRelativeResize="0"/>
          <p:nvPr/>
        </p:nvPicPr>
        <p:blipFill rotWithShape="1">
          <a:blip r:embed="rId5">
            <a:alphaModFix/>
          </a:blip>
          <a:srcRect b="0" l="0" r="0" t="0"/>
          <a:stretch/>
        </p:blipFill>
        <p:spPr>
          <a:xfrm>
            <a:off x="6286500" y="3509962"/>
            <a:ext cx="238125" cy="200025"/>
          </a:xfrm>
          <a:prstGeom prst="rect">
            <a:avLst/>
          </a:prstGeom>
          <a:noFill/>
          <a:ln>
            <a:noFill/>
          </a:ln>
        </p:spPr>
      </p:pic>
      <p:pic>
        <p:nvPicPr>
          <p:cNvPr descr="image.png" id="252" name="Google Shape;252;p19"/>
          <p:cNvPicPr preferRelativeResize="0"/>
          <p:nvPr/>
        </p:nvPicPr>
        <p:blipFill rotWithShape="1">
          <a:blip r:embed="rId6">
            <a:alphaModFix/>
          </a:blip>
          <a:srcRect b="0" l="0" r="0" t="0"/>
          <a:stretch/>
        </p:blipFill>
        <p:spPr>
          <a:xfrm>
            <a:off x="6286500" y="4138612"/>
            <a:ext cx="238125" cy="200025"/>
          </a:xfrm>
          <a:prstGeom prst="rect">
            <a:avLst/>
          </a:prstGeom>
          <a:noFill/>
          <a:ln>
            <a:noFill/>
          </a:ln>
        </p:spPr>
      </p:pic>
      <p:pic>
        <p:nvPicPr>
          <p:cNvPr descr="image.png" id="253" name="Google Shape;253;p19"/>
          <p:cNvPicPr preferRelativeResize="0"/>
          <p:nvPr/>
        </p:nvPicPr>
        <p:blipFill rotWithShape="1">
          <a:blip r:embed="rId7">
            <a:alphaModFix/>
          </a:blip>
          <a:srcRect b="0" l="0" r="0" t="0"/>
          <a:stretch/>
        </p:blipFill>
        <p:spPr>
          <a:xfrm>
            <a:off x="6286500" y="4767262"/>
            <a:ext cx="219075" cy="200025"/>
          </a:xfrm>
          <a:prstGeom prst="rect">
            <a:avLst/>
          </a:prstGeom>
          <a:noFill/>
          <a:ln>
            <a:noFill/>
          </a:ln>
        </p:spPr>
      </p:pic>
      <p:sp>
        <p:nvSpPr>
          <p:cNvPr id="254" name="Google Shape;254;p19"/>
          <p:cNvSpPr txBox="1"/>
          <p:nvPr/>
        </p:nvSpPr>
        <p:spPr>
          <a:xfrm>
            <a:off x="571500" y="47625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Urbanist"/>
                <a:ea typeface="Urbanist"/>
                <a:cs typeface="Urbanist"/>
                <a:sym typeface="Urbanist"/>
              </a:rPr>
              <a:t>INVESTOR DEMOGRAPHICS</a:t>
            </a:r>
            <a:endParaRPr/>
          </a:p>
        </p:txBody>
      </p:sp>
      <p:sp>
        <p:nvSpPr>
          <p:cNvPr id="255" name="Google Shape;255;p19"/>
          <p:cNvSpPr/>
          <p:nvPr/>
        </p:nvSpPr>
        <p:spPr>
          <a:xfrm>
            <a:off x="571500" y="1009650"/>
            <a:ext cx="11049000" cy="28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59" name="Shape 259"/>
        <p:cNvGrpSpPr/>
        <p:nvPr/>
      </p:nvGrpSpPr>
      <p:grpSpPr>
        <a:xfrm>
          <a:off x="0" y="0"/>
          <a:ext cx="0" cy="0"/>
          <a:chOff x="0" y="0"/>
          <a:chExt cx="0" cy="0"/>
        </a:xfrm>
      </p:grpSpPr>
      <p:pic>
        <p:nvPicPr>
          <p:cNvPr descr="image.png" id="260" name="Google Shape;260;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1" name="Google Shape;261;p20"/>
          <p:cNvPicPr preferRelativeResize="0"/>
          <p:nvPr/>
        </p:nvPicPr>
        <p:blipFill rotWithShape="1">
          <a:blip r:embed="rId4">
            <a:alphaModFix/>
          </a:blip>
          <a:srcRect b="0" l="0" r="0" t="0"/>
          <a:stretch/>
        </p:blipFill>
        <p:spPr>
          <a:xfrm>
            <a:off x="571500" y="2490787"/>
            <a:ext cx="2619375" cy="1000125"/>
          </a:xfrm>
          <a:prstGeom prst="rect">
            <a:avLst/>
          </a:prstGeom>
          <a:noFill/>
          <a:ln>
            <a:noFill/>
          </a:ln>
        </p:spPr>
      </p:pic>
      <p:pic>
        <p:nvPicPr>
          <p:cNvPr descr="image.png" id="262" name="Google Shape;262;p20"/>
          <p:cNvPicPr preferRelativeResize="0"/>
          <p:nvPr/>
        </p:nvPicPr>
        <p:blipFill rotWithShape="1">
          <a:blip r:embed="rId5">
            <a:alphaModFix/>
          </a:blip>
          <a:srcRect b="0" l="0" r="0" t="0"/>
          <a:stretch/>
        </p:blipFill>
        <p:spPr>
          <a:xfrm>
            <a:off x="3381375" y="2490787"/>
            <a:ext cx="2619375" cy="1000125"/>
          </a:xfrm>
          <a:prstGeom prst="rect">
            <a:avLst/>
          </a:prstGeom>
          <a:noFill/>
          <a:ln>
            <a:noFill/>
          </a:ln>
        </p:spPr>
      </p:pic>
      <p:pic>
        <p:nvPicPr>
          <p:cNvPr descr="image.png" id="263" name="Google Shape;263;p20"/>
          <p:cNvPicPr preferRelativeResize="0"/>
          <p:nvPr/>
        </p:nvPicPr>
        <p:blipFill rotWithShape="1">
          <a:blip r:embed="rId6">
            <a:alphaModFix/>
          </a:blip>
          <a:srcRect b="0" l="0" r="0" t="0"/>
          <a:stretch/>
        </p:blipFill>
        <p:spPr>
          <a:xfrm>
            <a:off x="6191250" y="2490787"/>
            <a:ext cx="2619375" cy="1000125"/>
          </a:xfrm>
          <a:prstGeom prst="rect">
            <a:avLst/>
          </a:prstGeom>
          <a:noFill/>
          <a:ln>
            <a:noFill/>
          </a:ln>
        </p:spPr>
      </p:pic>
      <p:pic>
        <p:nvPicPr>
          <p:cNvPr descr="image.png" id="264" name="Google Shape;264;p20"/>
          <p:cNvPicPr preferRelativeResize="0"/>
          <p:nvPr/>
        </p:nvPicPr>
        <p:blipFill rotWithShape="1">
          <a:blip r:embed="rId7">
            <a:alphaModFix/>
          </a:blip>
          <a:srcRect b="0" l="0" r="0" t="0"/>
          <a:stretch/>
        </p:blipFill>
        <p:spPr>
          <a:xfrm>
            <a:off x="9001125" y="2490787"/>
            <a:ext cx="2619375" cy="1000125"/>
          </a:xfrm>
          <a:prstGeom prst="rect">
            <a:avLst/>
          </a:prstGeom>
          <a:noFill/>
          <a:ln>
            <a:noFill/>
          </a:ln>
        </p:spPr>
      </p:pic>
      <p:pic>
        <p:nvPicPr>
          <p:cNvPr descr="image.png" id="265" name="Google Shape;265;p20"/>
          <p:cNvPicPr preferRelativeResize="0"/>
          <p:nvPr/>
        </p:nvPicPr>
        <p:blipFill rotWithShape="1">
          <a:blip r:embed="rId8">
            <a:alphaModFix/>
          </a:blip>
          <a:srcRect b="0" l="0" r="0" t="0"/>
          <a:stretch/>
        </p:blipFill>
        <p:spPr>
          <a:xfrm>
            <a:off x="7858125" y="3824287"/>
            <a:ext cx="2857500" cy="228600"/>
          </a:xfrm>
          <a:prstGeom prst="rect">
            <a:avLst/>
          </a:prstGeom>
          <a:noFill/>
          <a:ln>
            <a:noFill/>
          </a:ln>
        </p:spPr>
      </p:pic>
      <p:pic>
        <p:nvPicPr>
          <p:cNvPr descr="image.png" id="266" name="Google Shape;266;p20"/>
          <p:cNvPicPr preferRelativeResize="0"/>
          <p:nvPr/>
        </p:nvPicPr>
        <p:blipFill rotWithShape="1">
          <a:blip r:embed="rId8">
            <a:alphaModFix/>
          </a:blip>
          <a:srcRect b="0" l="0" r="0" t="0"/>
          <a:stretch/>
        </p:blipFill>
        <p:spPr>
          <a:xfrm>
            <a:off x="7858125" y="4195762"/>
            <a:ext cx="2857500" cy="228600"/>
          </a:xfrm>
          <a:prstGeom prst="rect">
            <a:avLst/>
          </a:prstGeom>
          <a:noFill/>
          <a:ln>
            <a:noFill/>
          </a:ln>
        </p:spPr>
      </p:pic>
      <p:pic>
        <p:nvPicPr>
          <p:cNvPr descr="image.png" id="267" name="Google Shape;267;p20"/>
          <p:cNvPicPr preferRelativeResize="0"/>
          <p:nvPr/>
        </p:nvPicPr>
        <p:blipFill rotWithShape="1">
          <a:blip r:embed="rId8">
            <a:alphaModFix/>
          </a:blip>
          <a:srcRect b="0" l="0" r="0" t="0"/>
          <a:stretch/>
        </p:blipFill>
        <p:spPr>
          <a:xfrm>
            <a:off x="7858125" y="4567237"/>
            <a:ext cx="2857500" cy="228600"/>
          </a:xfrm>
          <a:prstGeom prst="rect">
            <a:avLst/>
          </a:prstGeom>
          <a:noFill/>
          <a:ln>
            <a:noFill/>
          </a:ln>
        </p:spPr>
      </p:pic>
      <p:pic>
        <p:nvPicPr>
          <p:cNvPr descr="image.png" id="268" name="Google Shape;268;p20"/>
          <p:cNvPicPr preferRelativeResize="0"/>
          <p:nvPr/>
        </p:nvPicPr>
        <p:blipFill rotWithShape="1">
          <a:blip r:embed="rId8">
            <a:alphaModFix/>
          </a:blip>
          <a:srcRect b="0" l="0" r="0" t="0"/>
          <a:stretch/>
        </p:blipFill>
        <p:spPr>
          <a:xfrm>
            <a:off x="7858125" y="4938712"/>
            <a:ext cx="2857500" cy="228600"/>
          </a:xfrm>
          <a:prstGeom prst="rect">
            <a:avLst/>
          </a:prstGeom>
          <a:noFill/>
          <a:ln>
            <a:noFill/>
          </a:ln>
        </p:spPr>
      </p:pic>
      <p:pic>
        <p:nvPicPr>
          <p:cNvPr descr="image.png" id="269" name="Google Shape;269;p20"/>
          <p:cNvPicPr preferRelativeResize="0"/>
          <p:nvPr/>
        </p:nvPicPr>
        <p:blipFill rotWithShape="1">
          <a:blip r:embed="rId9">
            <a:alphaModFix/>
          </a:blip>
          <a:srcRect b="0" l="0" r="0" t="0"/>
          <a:stretch/>
        </p:blipFill>
        <p:spPr>
          <a:xfrm>
            <a:off x="7858125" y="3824287"/>
            <a:ext cx="2228850" cy="228600"/>
          </a:xfrm>
          <a:prstGeom prst="rect">
            <a:avLst/>
          </a:prstGeom>
          <a:noFill/>
          <a:ln>
            <a:noFill/>
          </a:ln>
        </p:spPr>
      </p:pic>
      <p:pic>
        <p:nvPicPr>
          <p:cNvPr descr="image.png" id="270" name="Google Shape;270;p20"/>
          <p:cNvPicPr preferRelativeResize="0"/>
          <p:nvPr/>
        </p:nvPicPr>
        <p:blipFill rotWithShape="1">
          <a:blip r:embed="rId10">
            <a:alphaModFix/>
          </a:blip>
          <a:srcRect b="0" l="0" r="0" t="0"/>
          <a:stretch/>
        </p:blipFill>
        <p:spPr>
          <a:xfrm>
            <a:off x="7858125" y="4195762"/>
            <a:ext cx="2571750" cy="228600"/>
          </a:xfrm>
          <a:prstGeom prst="rect">
            <a:avLst/>
          </a:prstGeom>
          <a:noFill/>
          <a:ln>
            <a:noFill/>
          </a:ln>
        </p:spPr>
      </p:pic>
      <p:pic>
        <p:nvPicPr>
          <p:cNvPr descr="image.png" id="271" name="Google Shape;271;p20"/>
          <p:cNvPicPr preferRelativeResize="0"/>
          <p:nvPr/>
        </p:nvPicPr>
        <p:blipFill rotWithShape="1">
          <a:blip r:embed="rId11">
            <a:alphaModFix/>
          </a:blip>
          <a:srcRect b="0" l="0" r="0" t="0"/>
          <a:stretch/>
        </p:blipFill>
        <p:spPr>
          <a:xfrm>
            <a:off x="7858125" y="4567237"/>
            <a:ext cx="2714625" cy="228600"/>
          </a:xfrm>
          <a:prstGeom prst="rect">
            <a:avLst/>
          </a:prstGeom>
          <a:noFill/>
          <a:ln>
            <a:noFill/>
          </a:ln>
        </p:spPr>
      </p:pic>
      <p:pic>
        <p:nvPicPr>
          <p:cNvPr descr="image.png" id="272" name="Google Shape;272;p20"/>
          <p:cNvPicPr preferRelativeResize="0"/>
          <p:nvPr/>
        </p:nvPicPr>
        <p:blipFill rotWithShape="1">
          <a:blip r:embed="rId12">
            <a:alphaModFix/>
          </a:blip>
          <a:srcRect b="0" l="0" r="0" t="0"/>
          <a:stretch/>
        </p:blipFill>
        <p:spPr>
          <a:xfrm>
            <a:off x="7858125" y="4938712"/>
            <a:ext cx="1285875" cy="228600"/>
          </a:xfrm>
          <a:prstGeom prst="rect">
            <a:avLst/>
          </a:prstGeom>
          <a:noFill/>
          <a:ln>
            <a:noFill/>
          </a:ln>
        </p:spPr>
      </p:pic>
      <p:sp>
        <p:nvSpPr>
          <p:cNvPr id="273" name="Google Shape;273;p20"/>
          <p:cNvSpPr txBox="1"/>
          <p:nvPr/>
        </p:nvSpPr>
        <p:spPr>
          <a:xfrm>
            <a:off x="771525" y="2719387"/>
            <a:ext cx="2219325"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3B82F6"/>
                </a:solidFill>
                <a:latin typeface="Urbanist"/>
                <a:ea typeface="Urbanist"/>
                <a:cs typeface="Urbanist"/>
                <a:sym typeface="Urbanist"/>
              </a:rPr>
              <a:t>18.4%</a:t>
            </a:r>
            <a:endParaRPr/>
          </a:p>
        </p:txBody>
      </p:sp>
      <p:sp>
        <p:nvSpPr>
          <p:cNvPr id="274" name="Google Shape;274;p20"/>
          <p:cNvSpPr txBox="1"/>
          <p:nvPr/>
        </p:nvSpPr>
        <p:spPr>
          <a:xfrm>
            <a:off x="771525" y="3128962"/>
            <a:ext cx="2219325"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75" u="none" cap="none" strike="noStrike">
                <a:solidFill>
                  <a:srgbClr val="64748B"/>
                </a:solidFill>
                <a:latin typeface="DM Sans Medium"/>
                <a:ea typeface="DM Sans Medium"/>
                <a:cs typeface="DM Sans Medium"/>
                <a:sym typeface="DM Sans Medium"/>
              </a:rPr>
              <a:t>AVERAGE EQUITY CAGR</a:t>
            </a:r>
            <a:endParaRPr/>
          </a:p>
        </p:txBody>
      </p:sp>
      <p:sp>
        <p:nvSpPr>
          <p:cNvPr id="275" name="Google Shape;275;p20"/>
          <p:cNvSpPr txBox="1"/>
          <p:nvPr/>
        </p:nvSpPr>
        <p:spPr>
          <a:xfrm>
            <a:off x="3581400" y="2719387"/>
            <a:ext cx="2219325"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3B82F6"/>
                </a:solidFill>
                <a:latin typeface="Urbanist"/>
                <a:ea typeface="Urbanist"/>
                <a:cs typeface="Urbanist"/>
                <a:sym typeface="Urbanist"/>
              </a:rPr>
              <a:t>1.62</a:t>
            </a:r>
            <a:endParaRPr/>
          </a:p>
        </p:txBody>
      </p:sp>
      <p:sp>
        <p:nvSpPr>
          <p:cNvPr id="276" name="Google Shape;276;p20"/>
          <p:cNvSpPr txBox="1"/>
          <p:nvPr/>
        </p:nvSpPr>
        <p:spPr>
          <a:xfrm>
            <a:off x="3581400" y="3128962"/>
            <a:ext cx="2219325"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75" u="none" cap="none" strike="noStrike">
                <a:solidFill>
                  <a:srgbClr val="64748B"/>
                </a:solidFill>
                <a:latin typeface="DM Sans Medium"/>
                <a:ea typeface="DM Sans Medium"/>
                <a:cs typeface="DM Sans Medium"/>
                <a:sym typeface="DM Sans Medium"/>
              </a:rPr>
              <a:t>AVG. SHARPE RATIO</a:t>
            </a:r>
            <a:endParaRPr/>
          </a:p>
        </p:txBody>
      </p:sp>
      <p:sp>
        <p:nvSpPr>
          <p:cNvPr id="277" name="Google Shape;277;p20"/>
          <p:cNvSpPr txBox="1"/>
          <p:nvPr/>
        </p:nvSpPr>
        <p:spPr>
          <a:xfrm>
            <a:off x="6391275" y="2719387"/>
            <a:ext cx="2219325"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3B82F6"/>
                </a:solidFill>
                <a:latin typeface="Urbanist"/>
                <a:ea typeface="Urbanist"/>
                <a:cs typeface="Urbanist"/>
                <a:sym typeface="Urbanist"/>
              </a:rPr>
              <a:t>2.14</a:t>
            </a:r>
            <a:endParaRPr/>
          </a:p>
        </p:txBody>
      </p:sp>
      <p:sp>
        <p:nvSpPr>
          <p:cNvPr id="278" name="Google Shape;278;p20"/>
          <p:cNvSpPr txBox="1"/>
          <p:nvPr/>
        </p:nvSpPr>
        <p:spPr>
          <a:xfrm>
            <a:off x="6391275" y="3128962"/>
            <a:ext cx="2219325"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75" u="none" cap="none" strike="noStrike">
                <a:solidFill>
                  <a:srgbClr val="64748B"/>
                </a:solidFill>
                <a:latin typeface="DM Sans Medium"/>
                <a:ea typeface="DM Sans Medium"/>
                <a:cs typeface="DM Sans Medium"/>
                <a:sym typeface="DM Sans Medium"/>
              </a:rPr>
              <a:t>AVG. SORTINO RATIO</a:t>
            </a:r>
            <a:endParaRPr/>
          </a:p>
        </p:txBody>
      </p:sp>
      <p:sp>
        <p:nvSpPr>
          <p:cNvPr id="279" name="Google Shape;279;p20"/>
          <p:cNvSpPr txBox="1"/>
          <p:nvPr/>
        </p:nvSpPr>
        <p:spPr>
          <a:xfrm>
            <a:off x="9201150" y="2719387"/>
            <a:ext cx="2219325" cy="361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3B82F6"/>
                </a:solidFill>
                <a:latin typeface="Urbanist"/>
                <a:ea typeface="Urbanist"/>
                <a:cs typeface="Urbanist"/>
                <a:sym typeface="Urbanist"/>
              </a:rPr>
              <a:t>0.45%</a:t>
            </a:r>
            <a:endParaRPr/>
          </a:p>
        </p:txBody>
      </p:sp>
      <p:sp>
        <p:nvSpPr>
          <p:cNvPr id="280" name="Google Shape;280;p20"/>
          <p:cNvSpPr txBox="1"/>
          <p:nvPr/>
        </p:nvSpPr>
        <p:spPr>
          <a:xfrm>
            <a:off x="9201150" y="3128962"/>
            <a:ext cx="2219325"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75" u="none" cap="none" strike="noStrike">
                <a:solidFill>
                  <a:srgbClr val="64748B"/>
                </a:solidFill>
                <a:latin typeface="DM Sans Medium"/>
                <a:ea typeface="DM Sans Medium"/>
                <a:cs typeface="DM Sans Medium"/>
                <a:sym typeface="DM Sans Medium"/>
              </a:rPr>
              <a:t>DAILY VOLATILITY</a:t>
            </a:r>
            <a:endParaRPr/>
          </a:p>
        </p:txBody>
      </p:sp>
      <p:sp>
        <p:nvSpPr>
          <p:cNvPr id="281" name="Google Shape;281;p20"/>
          <p:cNvSpPr txBox="1"/>
          <p:nvPr/>
        </p:nvSpPr>
        <p:spPr>
          <a:xfrm>
            <a:off x="571500" y="3890962"/>
            <a:ext cx="5600700"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1E3A8A"/>
                </a:solidFill>
                <a:latin typeface="Urbanist"/>
                <a:ea typeface="Urbanist"/>
                <a:cs typeface="Urbanist"/>
                <a:sym typeface="Urbanist"/>
              </a:rPr>
              <a:t>Return and Risk Efficiency Mapping</a:t>
            </a:r>
            <a:endParaRPr/>
          </a:p>
        </p:txBody>
      </p:sp>
      <p:sp>
        <p:nvSpPr>
          <p:cNvPr id="282" name="Google Shape;282;p20"/>
          <p:cNvSpPr txBox="1"/>
          <p:nvPr/>
        </p:nvSpPr>
        <p:spPr>
          <a:xfrm>
            <a:off x="571500" y="4243387"/>
            <a:ext cx="5334000" cy="85725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75569"/>
                </a:solidFill>
                <a:latin typeface="DM Sans"/>
                <a:ea typeface="DM Sans"/>
                <a:cs typeface="DM Sans"/>
                <a:sym typeface="DM Sans"/>
              </a:rPr>
              <a:t>By indexing historical data against industry-standard risk benchmarks, we can evaluate asset managers based on risk-adjusted efficiency rather than raw output alone. Sharpe values above 1.5 indicate highly favorable risk-reward alignment.</a:t>
            </a:r>
            <a:endParaRPr/>
          </a:p>
        </p:txBody>
      </p:sp>
      <p:sp>
        <p:nvSpPr>
          <p:cNvPr id="283" name="Google Shape;283;p20"/>
          <p:cNvSpPr txBox="1"/>
          <p:nvPr/>
        </p:nvSpPr>
        <p:spPr>
          <a:xfrm>
            <a:off x="6286500" y="3843337"/>
            <a:ext cx="1428750"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334155"/>
                </a:solidFill>
                <a:latin typeface="DM Sans SemiBold"/>
                <a:ea typeface="DM Sans SemiBold"/>
                <a:cs typeface="DM Sans SemiBold"/>
                <a:sym typeface="DM Sans SemiBold"/>
              </a:rPr>
              <a:t>Large Cap Core</a:t>
            </a:r>
            <a:endParaRPr/>
          </a:p>
        </p:txBody>
      </p:sp>
      <p:sp>
        <p:nvSpPr>
          <p:cNvPr id="284" name="Google Shape;284;p20"/>
          <p:cNvSpPr txBox="1"/>
          <p:nvPr/>
        </p:nvSpPr>
        <p:spPr>
          <a:xfrm>
            <a:off x="10858500" y="3857625"/>
            <a:ext cx="7620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3A8A"/>
                </a:solidFill>
                <a:latin typeface="DM Sans"/>
                <a:ea typeface="DM Sans"/>
                <a:cs typeface="DM Sans"/>
                <a:sym typeface="DM Sans"/>
              </a:rPr>
              <a:t>Sharpe 1.4</a:t>
            </a:r>
            <a:endParaRPr/>
          </a:p>
        </p:txBody>
      </p:sp>
      <p:sp>
        <p:nvSpPr>
          <p:cNvPr id="285" name="Google Shape;285;p20"/>
          <p:cNvSpPr txBox="1"/>
          <p:nvPr/>
        </p:nvSpPr>
        <p:spPr>
          <a:xfrm>
            <a:off x="6286500" y="4214812"/>
            <a:ext cx="1428750"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334155"/>
                </a:solidFill>
                <a:latin typeface="DM Sans SemiBold"/>
                <a:ea typeface="DM Sans SemiBold"/>
                <a:cs typeface="DM Sans SemiBold"/>
                <a:sym typeface="DM Sans SemiBold"/>
              </a:rPr>
              <a:t>Mid Cap Growth</a:t>
            </a:r>
            <a:endParaRPr/>
          </a:p>
        </p:txBody>
      </p:sp>
      <p:sp>
        <p:nvSpPr>
          <p:cNvPr id="286" name="Google Shape;286;p20"/>
          <p:cNvSpPr txBox="1"/>
          <p:nvPr/>
        </p:nvSpPr>
        <p:spPr>
          <a:xfrm>
            <a:off x="10858500" y="4229100"/>
            <a:ext cx="7620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0B981"/>
                </a:solidFill>
                <a:latin typeface="DM Sans"/>
                <a:ea typeface="DM Sans"/>
                <a:cs typeface="DM Sans"/>
                <a:sym typeface="DM Sans"/>
              </a:rPr>
              <a:t>Sharpe 1.8</a:t>
            </a:r>
            <a:endParaRPr/>
          </a:p>
        </p:txBody>
      </p:sp>
      <p:sp>
        <p:nvSpPr>
          <p:cNvPr id="287" name="Google Shape;287;p20"/>
          <p:cNvSpPr txBox="1"/>
          <p:nvPr/>
        </p:nvSpPr>
        <p:spPr>
          <a:xfrm>
            <a:off x="6286500" y="4586287"/>
            <a:ext cx="1428750"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334155"/>
                </a:solidFill>
                <a:latin typeface="DM Sans SemiBold"/>
                <a:ea typeface="DM Sans SemiBold"/>
                <a:cs typeface="DM Sans SemiBold"/>
                <a:sym typeface="DM Sans SemiBold"/>
              </a:rPr>
              <a:t>Small Cap Focus</a:t>
            </a:r>
            <a:endParaRPr/>
          </a:p>
        </p:txBody>
      </p:sp>
      <p:sp>
        <p:nvSpPr>
          <p:cNvPr id="288" name="Google Shape;288;p20"/>
          <p:cNvSpPr txBox="1"/>
          <p:nvPr/>
        </p:nvSpPr>
        <p:spPr>
          <a:xfrm>
            <a:off x="10858500" y="4600575"/>
            <a:ext cx="7620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B45309"/>
                </a:solidFill>
                <a:latin typeface="DM Sans"/>
                <a:ea typeface="DM Sans"/>
                <a:cs typeface="DM Sans"/>
                <a:sym typeface="DM Sans"/>
              </a:rPr>
              <a:t>Sharpe 1.9</a:t>
            </a:r>
            <a:endParaRPr/>
          </a:p>
        </p:txBody>
      </p:sp>
      <p:sp>
        <p:nvSpPr>
          <p:cNvPr id="289" name="Google Shape;289;p20"/>
          <p:cNvSpPr txBox="1"/>
          <p:nvPr/>
        </p:nvSpPr>
        <p:spPr>
          <a:xfrm>
            <a:off x="6286500" y="4957762"/>
            <a:ext cx="1428750"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334155"/>
                </a:solidFill>
                <a:latin typeface="DM Sans SemiBold"/>
                <a:ea typeface="DM Sans SemiBold"/>
                <a:cs typeface="DM Sans SemiBold"/>
                <a:sym typeface="DM Sans SemiBold"/>
              </a:rPr>
              <a:t>Debt Short-Term</a:t>
            </a:r>
            <a:endParaRPr/>
          </a:p>
        </p:txBody>
      </p:sp>
      <p:sp>
        <p:nvSpPr>
          <p:cNvPr id="290" name="Google Shape;290;p20"/>
          <p:cNvSpPr txBox="1"/>
          <p:nvPr/>
        </p:nvSpPr>
        <p:spPr>
          <a:xfrm>
            <a:off x="10858500" y="4972050"/>
            <a:ext cx="7620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6D28D9"/>
                </a:solidFill>
                <a:latin typeface="DM Sans"/>
                <a:ea typeface="DM Sans"/>
                <a:cs typeface="DM Sans"/>
                <a:sym typeface="DM Sans"/>
              </a:rPr>
              <a:t>Sharpe 2.2</a:t>
            </a:r>
            <a:endParaRPr/>
          </a:p>
        </p:txBody>
      </p:sp>
      <p:sp>
        <p:nvSpPr>
          <p:cNvPr id="291" name="Google Shape;291;p20"/>
          <p:cNvSpPr txBox="1"/>
          <p:nvPr/>
        </p:nvSpPr>
        <p:spPr>
          <a:xfrm>
            <a:off x="571500" y="47625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Urbanist"/>
                <a:ea typeface="Urbanist"/>
                <a:cs typeface="Urbanist"/>
                <a:sym typeface="Urbanist"/>
              </a:rPr>
              <a:t>PERFORMANCE INDICATORS</a:t>
            </a:r>
            <a:endParaRPr/>
          </a:p>
        </p:txBody>
      </p:sp>
      <p:sp>
        <p:nvSpPr>
          <p:cNvPr id="292" name="Google Shape;292;p20"/>
          <p:cNvSpPr/>
          <p:nvPr/>
        </p:nvSpPr>
        <p:spPr>
          <a:xfrm>
            <a:off x="571500" y="1009650"/>
            <a:ext cx="11049000" cy="28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96" name="Shape 296"/>
        <p:cNvGrpSpPr/>
        <p:nvPr/>
      </p:nvGrpSpPr>
      <p:grpSpPr>
        <a:xfrm>
          <a:off x="0" y="0"/>
          <a:ext cx="0" cy="0"/>
          <a:chOff x="0" y="0"/>
          <a:chExt cx="0" cy="0"/>
        </a:xfrm>
      </p:grpSpPr>
      <p:pic>
        <p:nvPicPr>
          <p:cNvPr descr="image.png" id="297" name="Google Shape;297;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8" name="Google Shape;298;p21"/>
          <p:cNvSpPr txBox="1"/>
          <p:nvPr/>
        </p:nvSpPr>
        <p:spPr>
          <a:xfrm>
            <a:off x="571500" y="1652587"/>
            <a:ext cx="1104900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64748B"/>
                </a:solidFill>
                <a:latin typeface="DM Sans"/>
                <a:ea typeface="DM Sans"/>
                <a:cs typeface="DM Sans"/>
                <a:sym typeface="DM Sans"/>
              </a:rPr>
              <a:t>Strategic portfolio evaluation utilizing key capital market pricing calculations (CAPM).</a:t>
            </a:r>
            <a:endParaRPr/>
          </a:p>
        </p:txBody>
      </p:sp>
      <p:sp>
        <p:nvSpPr>
          <p:cNvPr id="299" name="Google Shape;299;p21"/>
          <p:cNvSpPr/>
          <p:nvPr/>
        </p:nvSpPr>
        <p:spPr>
          <a:xfrm>
            <a:off x="571500" y="2043112"/>
            <a:ext cx="11049000" cy="3171825"/>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300" name="Google Shape;300;p21"/>
          <p:cNvGraphicFramePr/>
          <p:nvPr/>
        </p:nvGraphicFramePr>
        <p:xfrm>
          <a:off x="571500" y="2043112"/>
          <a:ext cx="3000000" cy="3000000"/>
        </p:xfrm>
        <a:graphic>
          <a:graphicData uri="http://schemas.openxmlformats.org/drawingml/2006/table">
            <a:tbl>
              <a:tblPr bandRow="1" firstRow="1">
                <a:noFill/>
                <a:tableStyleId>{487B19D3-B1CC-422A-8D93-38F71FFDB951}</a:tableStyleId>
              </a:tblPr>
              <a:tblGrid>
                <a:gridCol w="2201025"/>
                <a:gridCol w="1621925"/>
                <a:gridCol w="1529350"/>
                <a:gridCol w="1445275"/>
                <a:gridCol w="1425475"/>
                <a:gridCol w="2816425"/>
              </a:tblGrid>
              <a:tr h="634375">
                <a:tc>
                  <a:txBody>
                    <a:bodyPr/>
                    <a:lstStyle/>
                    <a:p>
                      <a:pPr indent="0" lvl="0" marL="0" marR="0" rtl="0" algn="l">
                        <a:spcBef>
                          <a:spcPts val="0"/>
                        </a:spcBef>
                        <a:spcAft>
                          <a:spcPts val="0"/>
                        </a:spcAft>
                        <a:buNone/>
                      </a:pPr>
                      <a:r>
                        <a:rPr b="0" i="0" lang="en-US" sz="1200" u="none" cap="none" strike="noStrike">
                          <a:solidFill>
                            <a:srgbClr val="FFFFFF"/>
                          </a:solidFill>
                          <a:latin typeface="Urbanist SemiBold"/>
                          <a:ea typeface="Urbanist SemiBold"/>
                          <a:cs typeface="Urbanist SemiBold"/>
                          <a:sym typeface="Urbanist SemiBold"/>
                        </a:rPr>
                        <a:t>Fund Category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SemiBold"/>
                          <a:ea typeface="Urbanist SemiBold"/>
                          <a:cs typeface="Urbanist SemiBold"/>
                          <a:sym typeface="Urbanist SemiBold"/>
                        </a:rPr>
                        <a:t>Average Alpha (α)</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SemiBold"/>
                          <a:ea typeface="Urbanist SemiBold"/>
                          <a:cs typeface="Urbanist SemiBold"/>
                          <a:sym typeface="Urbanist SemiBold"/>
                        </a:rPr>
                        <a:t>Average Beta (β)</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SemiBold"/>
                          <a:ea typeface="Urbanist SemiBold"/>
                          <a:cs typeface="Urbanist SemiBold"/>
                          <a:sym typeface="Urbanist SemiBold"/>
                        </a:rPr>
                        <a:t>Max Drawdown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SemiBold"/>
                          <a:ea typeface="Urbanist SemiBold"/>
                          <a:cs typeface="Urbanist SemiBold"/>
                          <a:sym typeface="Urbanist SemiBold"/>
                        </a:rPr>
                        <a:t>Scorecard Rank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SemiBold"/>
                          <a:ea typeface="Urbanist SemiBold"/>
                          <a:cs typeface="Urbanist SemiBold"/>
                          <a:sym typeface="Urbanist SemiBold"/>
                        </a:rPr>
                        <a:t>Risk Assessment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r>
              <a:tr h="634375">
                <a:tc>
                  <a:txBody>
                    <a:bodyPr/>
                    <a:lstStyle/>
                    <a:p>
                      <a:pPr indent="0" lvl="0" marL="0" marR="0" rtl="0" algn="l">
                        <a:spcBef>
                          <a:spcPts val="0"/>
                        </a:spcBef>
                        <a:spcAft>
                          <a:spcPts val="0"/>
                        </a:spcAft>
                        <a:buNone/>
                      </a:pPr>
                      <a:r>
                        <a:rPr b="1" i="0" lang="en-US" sz="1125" u="none" cap="none" strike="noStrike">
                          <a:solidFill>
                            <a:srgbClr val="334155"/>
                          </a:solidFill>
                          <a:latin typeface="DM Sans"/>
                          <a:ea typeface="DM Sans"/>
                          <a:cs typeface="DM Sans"/>
                          <a:sym typeface="DM Sans"/>
                        </a:rPr>
                        <a:t>Bluechip Large Cap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+2.15%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0.88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-12.4%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Rank #2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Low sensitivity, consistent alpha.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4375">
                <a:tc>
                  <a:txBody>
                    <a:bodyPr/>
                    <a:lstStyle/>
                    <a:p>
                      <a:pPr indent="0" lvl="0" marL="0" marR="0" rtl="0" algn="l">
                        <a:spcBef>
                          <a:spcPts val="0"/>
                        </a:spcBef>
                        <a:spcAft>
                          <a:spcPts val="0"/>
                        </a:spcAft>
                        <a:buNone/>
                      </a:pPr>
                      <a:r>
                        <a:rPr b="1" i="0" lang="en-US" sz="1125" u="none" cap="none" strike="noStrike">
                          <a:solidFill>
                            <a:srgbClr val="334155"/>
                          </a:solidFill>
                          <a:latin typeface="DM Sans"/>
                          <a:ea typeface="DM Sans"/>
                          <a:cs typeface="DM Sans"/>
                          <a:sym typeface="DM Sans"/>
                        </a:rPr>
                        <a:t>Emerging Mid Cap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+4.80%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1.12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-18.5%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Rank #1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High active alpha, moderate volatility.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634375">
                <a:tc>
                  <a:txBody>
                    <a:bodyPr/>
                    <a:lstStyle/>
                    <a:p>
                      <a:pPr indent="0" lvl="0" marL="0" marR="0" rtl="0" algn="l">
                        <a:spcBef>
                          <a:spcPts val="0"/>
                        </a:spcBef>
                        <a:spcAft>
                          <a:spcPts val="0"/>
                        </a:spcAft>
                        <a:buNone/>
                      </a:pPr>
                      <a:r>
                        <a:rPr b="1" i="0" lang="en-US" sz="1125" u="none" cap="none" strike="noStrike">
                          <a:solidFill>
                            <a:srgbClr val="334155"/>
                          </a:solidFill>
                          <a:latin typeface="DM Sans"/>
                          <a:ea typeface="DM Sans"/>
                          <a:cs typeface="DM Sans"/>
                          <a:sym typeface="DM Sans"/>
                        </a:rPr>
                        <a:t>Dynamic Debt Fund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+0.45%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0.15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-2.1%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Rank #4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Capital preservation, low volatility.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4375">
                <a:tc>
                  <a:txBody>
                    <a:bodyPr/>
                    <a:lstStyle/>
                    <a:p>
                      <a:pPr indent="0" lvl="0" marL="0" marR="0" rtl="0" algn="l">
                        <a:spcBef>
                          <a:spcPts val="0"/>
                        </a:spcBef>
                        <a:spcAft>
                          <a:spcPts val="0"/>
                        </a:spcAft>
                        <a:buNone/>
                      </a:pPr>
                      <a:r>
                        <a:rPr b="1" i="0" lang="en-US" sz="1125" u="none" cap="none" strike="noStrike">
                          <a:solidFill>
                            <a:srgbClr val="334155"/>
                          </a:solidFill>
                          <a:latin typeface="DM Sans"/>
                          <a:ea typeface="DM Sans"/>
                          <a:cs typeface="DM Sans"/>
                          <a:sym typeface="DM Sans"/>
                        </a:rPr>
                        <a:t>Hybrid Balanced Allocator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+1.90%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0.72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-8.9%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Rank #3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DM Sans"/>
                          <a:ea typeface="DM Sans"/>
                          <a:cs typeface="DM Sans"/>
                          <a:sym typeface="DM Sans"/>
                        </a:rPr>
                        <a:t>Optimized down-side mitigation.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301" name="Google Shape;301;p21"/>
          <p:cNvSpPr txBox="1"/>
          <p:nvPr/>
        </p:nvSpPr>
        <p:spPr>
          <a:xfrm>
            <a:off x="571500" y="5405437"/>
            <a:ext cx="5381625"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475569"/>
                </a:solidFill>
                <a:latin typeface="DM Sans"/>
                <a:ea typeface="DM Sans"/>
                <a:cs typeface="DM Sans"/>
                <a:sym typeface="DM Sans"/>
              </a:rPr>
              <a:t>Alpha (α) Key Takeaway:</a:t>
            </a:r>
            <a:r>
              <a:rPr b="0" i="0" lang="en-US" sz="1050" u="none" cap="none" strike="noStrike">
                <a:solidFill>
                  <a:srgbClr val="475569"/>
                </a:solidFill>
                <a:latin typeface="DM Sans"/>
                <a:ea typeface="DM Sans"/>
                <a:cs typeface="DM Sans"/>
                <a:sym typeface="DM Sans"/>
              </a:rPr>
              <a:t> Emerging Mid-Cap segments generated +4.80% premium return above standard benchmarks, validating the skill of the underlying asset selection.</a:t>
            </a:r>
            <a:endParaRPr/>
          </a:p>
        </p:txBody>
      </p:sp>
      <p:sp>
        <p:nvSpPr>
          <p:cNvPr id="302" name="Google Shape;302;p21"/>
          <p:cNvSpPr txBox="1"/>
          <p:nvPr/>
        </p:nvSpPr>
        <p:spPr>
          <a:xfrm>
            <a:off x="6238875" y="5405437"/>
            <a:ext cx="5381625"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475569"/>
                </a:solidFill>
                <a:latin typeface="DM Sans"/>
                <a:ea typeface="DM Sans"/>
                <a:cs typeface="DM Sans"/>
                <a:sym typeface="DM Sans"/>
              </a:rPr>
              <a:t>Beta (β) Key Takeaway:</a:t>
            </a:r>
            <a:r>
              <a:rPr b="0" i="0" lang="en-US" sz="1050" u="none" cap="none" strike="noStrike">
                <a:solidFill>
                  <a:srgbClr val="475569"/>
                </a:solidFill>
                <a:latin typeface="DM Sans"/>
                <a:ea typeface="DM Sans"/>
                <a:cs typeface="DM Sans"/>
                <a:sym typeface="DM Sans"/>
              </a:rPr>
              <a:t> Large-Cap portfolios maintained defensiveness with an average beta of 0.88, demonstrating strong performance during market consolidations.</a:t>
            </a:r>
            <a:endParaRPr/>
          </a:p>
        </p:txBody>
      </p:sp>
      <p:sp>
        <p:nvSpPr>
          <p:cNvPr id="303" name="Google Shape;303;p21"/>
          <p:cNvSpPr/>
          <p:nvPr/>
        </p:nvSpPr>
        <p:spPr>
          <a:xfrm>
            <a:off x="576262" y="3257550"/>
            <a:ext cx="2201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1"/>
          <p:cNvSpPr/>
          <p:nvPr/>
        </p:nvSpPr>
        <p:spPr>
          <a:xfrm>
            <a:off x="2777281" y="3257550"/>
            <a:ext cx="162192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21"/>
          <p:cNvSpPr/>
          <p:nvPr/>
        </p:nvSpPr>
        <p:spPr>
          <a:xfrm>
            <a:off x="4399210" y="3257550"/>
            <a:ext cx="152935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21"/>
          <p:cNvSpPr/>
          <p:nvPr/>
        </p:nvSpPr>
        <p:spPr>
          <a:xfrm>
            <a:off x="5928568" y="3257550"/>
            <a:ext cx="144526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21"/>
          <p:cNvSpPr/>
          <p:nvPr/>
        </p:nvSpPr>
        <p:spPr>
          <a:xfrm>
            <a:off x="7373838" y="3257550"/>
            <a:ext cx="14254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1"/>
          <p:cNvSpPr/>
          <p:nvPr/>
        </p:nvSpPr>
        <p:spPr>
          <a:xfrm>
            <a:off x="8799314" y="3257550"/>
            <a:ext cx="281642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21"/>
          <p:cNvSpPr/>
          <p:nvPr/>
        </p:nvSpPr>
        <p:spPr>
          <a:xfrm>
            <a:off x="576262" y="3952875"/>
            <a:ext cx="2201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1"/>
          <p:cNvSpPr/>
          <p:nvPr/>
        </p:nvSpPr>
        <p:spPr>
          <a:xfrm>
            <a:off x="2777281" y="3952875"/>
            <a:ext cx="162192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21"/>
          <p:cNvSpPr/>
          <p:nvPr/>
        </p:nvSpPr>
        <p:spPr>
          <a:xfrm>
            <a:off x="4399210" y="3952875"/>
            <a:ext cx="152935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21"/>
          <p:cNvSpPr/>
          <p:nvPr/>
        </p:nvSpPr>
        <p:spPr>
          <a:xfrm>
            <a:off x="5928568" y="3952875"/>
            <a:ext cx="144526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21"/>
          <p:cNvSpPr/>
          <p:nvPr/>
        </p:nvSpPr>
        <p:spPr>
          <a:xfrm>
            <a:off x="7373838" y="3952875"/>
            <a:ext cx="14254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1"/>
          <p:cNvSpPr/>
          <p:nvPr/>
        </p:nvSpPr>
        <p:spPr>
          <a:xfrm>
            <a:off x="8799314" y="3952875"/>
            <a:ext cx="281642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21"/>
          <p:cNvSpPr/>
          <p:nvPr/>
        </p:nvSpPr>
        <p:spPr>
          <a:xfrm>
            <a:off x="576262" y="4505325"/>
            <a:ext cx="2201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21"/>
          <p:cNvSpPr/>
          <p:nvPr/>
        </p:nvSpPr>
        <p:spPr>
          <a:xfrm>
            <a:off x="2777281" y="4505325"/>
            <a:ext cx="162192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21"/>
          <p:cNvSpPr/>
          <p:nvPr/>
        </p:nvSpPr>
        <p:spPr>
          <a:xfrm>
            <a:off x="4399210" y="4505325"/>
            <a:ext cx="152935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p21"/>
          <p:cNvSpPr/>
          <p:nvPr/>
        </p:nvSpPr>
        <p:spPr>
          <a:xfrm>
            <a:off x="5928568" y="4505325"/>
            <a:ext cx="144526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1"/>
          <p:cNvSpPr/>
          <p:nvPr/>
        </p:nvSpPr>
        <p:spPr>
          <a:xfrm>
            <a:off x="7373838" y="4505325"/>
            <a:ext cx="14254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1"/>
          <p:cNvSpPr/>
          <p:nvPr/>
        </p:nvSpPr>
        <p:spPr>
          <a:xfrm>
            <a:off x="8799314" y="4505325"/>
            <a:ext cx="281642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21" name="Google Shape;321;p21"/>
          <p:cNvPicPr preferRelativeResize="0"/>
          <p:nvPr/>
        </p:nvPicPr>
        <p:blipFill rotWithShape="1">
          <a:blip r:embed="rId4">
            <a:alphaModFix/>
          </a:blip>
          <a:srcRect b="0" l="0" r="0" t="0"/>
          <a:stretch/>
        </p:blipFill>
        <p:spPr>
          <a:xfrm>
            <a:off x="7564338" y="2871787"/>
            <a:ext cx="704850" cy="238125"/>
          </a:xfrm>
          <a:prstGeom prst="rect">
            <a:avLst/>
          </a:prstGeom>
          <a:noFill/>
          <a:ln>
            <a:noFill/>
          </a:ln>
        </p:spPr>
      </p:pic>
      <p:pic>
        <p:nvPicPr>
          <p:cNvPr descr="image.png" id="322" name="Google Shape;322;p21"/>
          <p:cNvPicPr preferRelativeResize="0"/>
          <p:nvPr/>
        </p:nvPicPr>
        <p:blipFill rotWithShape="1">
          <a:blip r:embed="rId5">
            <a:alphaModFix/>
          </a:blip>
          <a:srcRect b="0" l="0" r="0" t="0"/>
          <a:stretch/>
        </p:blipFill>
        <p:spPr>
          <a:xfrm>
            <a:off x="7564338" y="3495675"/>
            <a:ext cx="676275" cy="238125"/>
          </a:xfrm>
          <a:prstGeom prst="rect">
            <a:avLst/>
          </a:prstGeom>
          <a:noFill/>
          <a:ln>
            <a:noFill/>
          </a:ln>
        </p:spPr>
      </p:pic>
      <p:pic>
        <p:nvPicPr>
          <p:cNvPr descr="image.png" id="323" name="Google Shape;323;p21"/>
          <p:cNvPicPr preferRelativeResize="0"/>
          <p:nvPr/>
        </p:nvPicPr>
        <p:blipFill rotWithShape="1">
          <a:blip r:embed="rId6">
            <a:alphaModFix/>
          </a:blip>
          <a:srcRect b="0" l="0" r="0" t="0"/>
          <a:stretch/>
        </p:blipFill>
        <p:spPr>
          <a:xfrm>
            <a:off x="7564338" y="4119562"/>
            <a:ext cx="704850" cy="238125"/>
          </a:xfrm>
          <a:prstGeom prst="rect">
            <a:avLst/>
          </a:prstGeom>
          <a:noFill/>
          <a:ln>
            <a:noFill/>
          </a:ln>
        </p:spPr>
      </p:pic>
      <p:pic>
        <p:nvPicPr>
          <p:cNvPr descr="image.png" id="324" name="Google Shape;324;p21"/>
          <p:cNvPicPr preferRelativeResize="0"/>
          <p:nvPr/>
        </p:nvPicPr>
        <p:blipFill rotWithShape="1">
          <a:blip r:embed="rId7">
            <a:alphaModFix/>
          </a:blip>
          <a:srcRect b="0" l="0" r="0" t="0"/>
          <a:stretch/>
        </p:blipFill>
        <p:spPr>
          <a:xfrm>
            <a:off x="7564338" y="4743450"/>
            <a:ext cx="704850" cy="238125"/>
          </a:xfrm>
          <a:prstGeom prst="rect">
            <a:avLst/>
          </a:prstGeom>
          <a:noFill/>
          <a:ln>
            <a:noFill/>
          </a:ln>
        </p:spPr>
      </p:pic>
      <p:sp>
        <p:nvSpPr>
          <p:cNvPr id="325" name="Google Shape;325;p21"/>
          <p:cNvSpPr txBox="1"/>
          <p:nvPr/>
        </p:nvSpPr>
        <p:spPr>
          <a:xfrm>
            <a:off x="571500" y="47625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Urbanist"/>
                <a:ea typeface="Urbanist"/>
                <a:cs typeface="Urbanist"/>
                <a:sym typeface="Urbanist"/>
              </a:rPr>
              <a:t>RISK-ADJUSTED METRICS</a:t>
            </a:r>
            <a:endParaRPr/>
          </a:p>
        </p:txBody>
      </p:sp>
      <p:sp>
        <p:nvSpPr>
          <p:cNvPr id="326" name="Google Shape;326;p21"/>
          <p:cNvSpPr/>
          <p:nvPr/>
        </p:nvSpPr>
        <p:spPr>
          <a:xfrm>
            <a:off x="571500" y="1009650"/>
            <a:ext cx="11049000" cy="28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30" name="Shape 330"/>
        <p:cNvGrpSpPr/>
        <p:nvPr/>
      </p:nvGrpSpPr>
      <p:grpSpPr>
        <a:xfrm>
          <a:off x="0" y="0"/>
          <a:ext cx="0" cy="0"/>
          <a:chOff x="0" y="0"/>
          <a:chExt cx="0" cy="0"/>
        </a:xfrm>
      </p:grpSpPr>
      <p:pic>
        <p:nvPicPr>
          <p:cNvPr descr="image.png" id="331" name="Google Shape;331;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32" name="Google Shape;332;p22"/>
          <p:cNvPicPr preferRelativeResize="0"/>
          <p:nvPr/>
        </p:nvPicPr>
        <p:blipFill rotWithShape="1">
          <a:blip r:embed="rId4">
            <a:alphaModFix/>
          </a:blip>
          <a:srcRect b="0" l="0" r="0" t="0"/>
          <a:stretch/>
        </p:blipFill>
        <p:spPr>
          <a:xfrm>
            <a:off x="571500" y="1804987"/>
            <a:ext cx="5334000" cy="3333750"/>
          </a:xfrm>
          <a:prstGeom prst="rect">
            <a:avLst/>
          </a:prstGeom>
          <a:noFill/>
          <a:ln>
            <a:noFill/>
          </a:ln>
        </p:spPr>
      </p:pic>
      <p:pic>
        <p:nvPicPr>
          <p:cNvPr descr="image.png" id="333" name="Google Shape;333;p22"/>
          <p:cNvPicPr preferRelativeResize="0"/>
          <p:nvPr/>
        </p:nvPicPr>
        <p:blipFill rotWithShape="1">
          <a:blip r:embed="rId5">
            <a:alphaModFix/>
          </a:blip>
          <a:srcRect b="0" l="0" r="0" t="0"/>
          <a:stretch/>
        </p:blipFill>
        <p:spPr>
          <a:xfrm>
            <a:off x="6286500" y="1804987"/>
            <a:ext cx="5334000" cy="3333750"/>
          </a:xfrm>
          <a:prstGeom prst="rect">
            <a:avLst/>
          </a:prstGeom>
          <a:noFill/>
          <a:ln>
            <a:noFill/>
          </a:ln>
        </p:spPr>
      </p:pic>
      <p:sp>
        <p:nvSpPr>
          <p:cNvPr id="334" name="Google Shape;334;p22"/>
          <p:cNvSpPr txBox="1"/>
          <p:nvPr/>
        </p:nvSpPr>
        <p:spPr>
          <a:xfrm>
            <a:off x="571500" y="5253037"/>
            <a:ext cx="5600700"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Urbanist"/>
                <a:ea typeface="Urbanist"/>
                <a:cs typeface="Urbanist"/>
                <a:sym typeface="Urbanist"/>
              </a:rPr>
              <a:t>Dashboard Part 1: Industry Overview</a:t>
            </a:r>
            <a:endParaRPr/>
          </a:p>
        </p:txBody>
      </p:sp>
      <p:sp>
        <p:nvSpPr>
          <p:cNvPr id="335" name="Google Shape;335;p22"/>
          <p:cNvSpPr txBox="1"/>
          <p:nvPr/>
        </p:nvSpPr>
        <p:spPr>
          <a:xfrm>
            <a:off x="571500" y="5510212"/>
            <a:ext cx="53340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DM Sans"/>
                <a:ea typeface="DM Sans"/>
                <a:cs typeface="DM Sans"/>
                <a:sym typeface="DM Sans"/>
              </a:rPr>
              <a:t>Consolidated views tracking cross-category market capitalization share and monthly transactional records.</a:t>
            </a:r>
            <a:endParaRPr/>
          </a:p>
        </p:txBody>
      </p:sp>
      <p:sp>
        <p:nvSpPr>
          <p:cNvPr id="336" name="Google Shape;336;p22"/>
          <p:cNvSpPr txBox="1"/>
          <p:nvPr/>
        </p:nvSpPr>
        <p:spPr>
          <a:xfrm>
            <a:off x="6286500" y="5253037"/>
            <a:ext cx="5600700"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Urbanist"/>
                <a:ea typeface="Urbanist"/>
                <a:cs typeface="Urbanist"/>
                <a:sym typeface="Urbanist"/>
              </a:rPr>
              <a:t>Dashboard Part 2: Fund Analytics</a:t>
            </a:r>
            <a:endParaRPr/>
          </a:p>
        </p:txBody>
      </p:sp>
      <p:sp>
        <p:nvSpPr>
          <p:cNvPr id="337" name="Google Shape;337;p22"/>
          <p:cNvSpPr txBox="1"/>
          <p:nvPr/>
        </p:nvSpPr>
        <p:spPr>
          <a:xfrm>
            <a:off x="6286500" y="5510212"/>
            <a:ext cx="53340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DM Sans"/>
                <a:ea typeface="DM Sans"/>
                <a:cs typeface="DM Sans"/>
                <a:sym typeface="DM Sans"/>
              </a:rPr>
              <a:t>Scheme-specific interactive filters for CAGR, maximum drawdown, Sharpe/Sortino ratios, and benchmark tracking.</a:t>
            </a:r>
            <a:endParaRPr/>
          </a:p>
        </p:txBody>
      </p:sp>
      <p:pic>
        <p:nvPicPr>
          <p:cNvPr descr="image.png" id="338" name="Google Shape;338;p22"/>
          <p:cNvPicPr preferRelativeResize="0"/>
          <p:nvPr/>
        </p:nvPicPr>
        <p:blipFill rotWithShape="1">
          <a:blip r:embed="rId6">
            <a:alphaModFix/>
          </a:blip>
          <a:srcRect b="0" l="0" r="0" t="0"/>
          <a:stretch/>
        </p:blipFill>
        <p:spPr>
          <a:xfrm>
            <a:off x="609600" y="1843087"/>
            <a:ext cx="3267075" cy="200025"/>
          </a:xfrm>
          <a:prstGeom prst="rect">
            <a:avLst/>
          </a:prstGeom>
          <a:noFill/>
          <a:ln>
            <a:noFill/>
          </a:ln>
        </p:spPr>
      </p:pic>
      <p:pic>
        <p:nvPicPr>
          <p:cNvPr descr="image.png" id="339" name="Google Shape;339;p22"/>
          <p:cNvPicPr preferRelativeResize="0"/>
          <p:nvPr/>
        </p:nvPicPr>
        <p:blipFill rotWithShape="1">
          <a:blip r:embed="rId7">
            <a:alphaModFix/>
          </a:blip>
          <a:srcRect b="0" l="0" r="0" t="0"/>
          <a:stretch/>
        </p:blipFill>
        <p:spPr>
          <a:xfrm>
            <a:off x="6324600" y="1843087"/>
            <a:ext cx="4486275" cy="200025"/>
          </a:xfrm>
          <a:prstGeom prst="rect">
            <a:avLst/>
          </a:prstGeom>
          <a:noFill/>
          <a:ln>
            <a:noFill/>
          </a:ln>
        </p:spPr>
      </p:pic>
      <p:sp>
        <p:nvSpPr>
          <p:cNvPr id="340" name="Google Shape;340;p22"/>
          <p:cNvSpPr txBox="1"/>
          <p:nvPr/>
        </p:nvSpPr>
        <p:spPr>
          <a:xfrm>
            <a:off x="571500" y="47625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Urbanist"/>
                <a:ea typeface="Urbanist"/>
                <a:cs typeface="Urbanist"/>
                <a:sym typeface="Urbanist"/>
              </a:rPr>
              <a:t>POWER BI DASHBOARD PREVIEW</a:t>
            </a:r>
            <a:endParaRPr/>
          </a:p>
        </p:txBody>
      </p:sp>
      <p:sp>
        <p:nvSpPr>
          <p:cNvPr id="341" name="Google Shape;341;p22"/>
          <p:cNvSpPr/>
          <p:nvPr/>
        </p:nvSpPr>
        <p:spPr>
          <a:xfrm>
            <a:off x="571500" y="1009650"/>
            <a:ext cx="11049000" cy="28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45" name="Shape 345"/>
        <p:cNvGrpSpPr/>
        <p:nvPr/>
      </p:nvGrpSpPr>
      <p:grpSpPr>
        <a:xfrm>
          <a:off x="0" y="0"/>
          <a:ext cx="0" cy="0"/>
          <a:chOff x="0" y="0"/>
          <a:chExt cx="0" cy="0"/>
        </a:xfrm>
      </p:grpSpPr>
      <p:pic>
        <p:nvPicPr>
          <p:cNvPr descr="image.png" id="346" name="Google Shape;346;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7" name="Google Shape;347;p23"/>
          <p:cNvPicPr preferRelativeResize="0"/>
          <p:nvPr/>
        </p:nvPicPr>
        <p:blipFill rotWithShape="1">
          <a:blip r:embed="rId4">
            <a:alphaModFix/>
          </a:blip>
          <a:srcRect b="0" l="0" r="0" t="0"/>
          <a:stretch/>
        </p:blipFill>
        <p:spPr>
          <a:xfrm>
            <a:off x="6286500" y="2690812"/>
            <a:ext cx="5334000" cy="2276475"/>
          </a:xfrm>
          <a:prstGeom prst="rect">
            <a:avLst/>
          </a:prstGeom>
          <a:noFill/>
          <a:ln>
            <a:noFill/>
          </a:ln>
        </p:spPr>
      </p:pic>
      <p:sp>
        <p:nvSpPr>
          <p:cNvPr id="348" name="Google Shape;348;p23"/>
          <p:cNvSpPr txBox="1"/>
          <p:nvPr/>
        </p:nvSpPr>
        <p:spPr>
          <a:xfrm>
            <a:off x="6572250" y="2976562"/>
            <a:ext cx="500062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F172A"/>
                </a:solidFill>
                <a:latin typeface="Urbanist SemiBold"/>
                <a:ea typeface="Urbanist SemiBold"/>
                <a:cs typeface="Urbanist SemiBold"/>
                <a:sym typeface="Urbanist SemiBold"/>
              </a:rPr>
              <a:t>Executive Conclusion</a:t>
            </a:r>
            <a:endParaRPr/>
          </a:p>
        </p:txBody>
      </p:sp>
      <p:sp>
        <p:nvSpPr>
          <p:cNvPr id="349" name="Google Shape;349;p23"/>
          <p:cNvSpPr txBox="1"/>
          <p:nvPr/>
        </p:nvSpPr>
        <p:spPr>
          <a:xfrm>
            <a:off x="6572250" y="3395662"/>
            <a:ext cx="4762500"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334155"/>
                </a:solidFill>
                <a:latin typeface="DM Sans"/>
                <a:ea typeface="DM Sans"/>
                <a:cs typeface="DM Sans"/>
                <a:sym typeface="DM Sans"/>
              </a:rPr>
              <a:t>This mutual fund data engine provides an automated solution to help modern advisors identify superior active funds.</a:t>
            </a:r>
            <a:endParaRPr/>
          </a:p>
        </p:txBody>
      </p:sp>
      <p:sp>
        <p:nvSpPr>
          <p:cNvPr id="350" name="Google Shape;350;p23"/>
          <p:cNvSpPr txBox="1"/>
          <p:nvPr/>
        </p:nvSpPr>
        <p:spPr>
          <a:xfrm>
            <a:off x="6572250" y="3995737"/>
            <a:ext cx="476250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334155"/>
                </a:solidFill>
                <a:latin typeface="DM Sans"/>
                <a:ea typeface="DM Sans"/>
                <a:cs typeface="DM Sans"/>
                <a:sym typeface="DM Sans"/>
              </a:rPr>
              <a:t>By transitioning from raw CSV arrays to highly descriptive visual reporting, it uncovers actionable patterns that enhance investment returns while keeping risk well-managed.</a:t>
            </a:r>
            <a:endParaRPr/>
          </a:p>
        </p:txBody>
      </p:sp>
      <p:sp>
        <p:nvSpPr>
          <p:cNvPr id="351" name="Google Shape;351;p23"/>
          <p:cNvSpPr txBox="1"/>
          <p:nvPr/>
        </p:nvSpPr>
        <p:spPr>
          <a:xfrm>
            <a:off x="571500" y="2700337"/>
            <a:ext cx="5600700" cy="228600"/>
          </a:xfrm>
          <a:prstGeom prst="rect">
            <a:avLst/>
          </a:prstGeom>
          <a:noFill/>
          <a:ln>
            <a:noFill/>
          </a:ln>
        </p:spPr>
        <p:txBody>
          <a:bodyPr anchorCtr="0" anchor="t" bIns="0" lIns="266700" spcFirstLastPara="1" rIns="0" wrap="square" tIns="0">
            <a:spAutoFit/>
          </a:bodyPr>
          <a:lstStyle/>
          <a:p>
            <a:pPr indent="0" lvl="0" marL="0" marR="0" rtl="0" algn="l">
              <a:spcBef>
                <a:spcPts val="0"/>
              </a:spcBef>
              <a:spcAft>
                <a:spcPts val="0"/>
              </a:spcAft>
              <a:buNone/>
            </a:pPr>
            <a:r>
              <a:rPr b="1" i="0" lang="en-US" sz="1500" u="none" cap="none" strike="noStrike">
                <a:solidFill>
                  <a:srgbClr val="1E3A8A"/>
                </a:solidFill>
                <a:latin typeface="Urbanist"/>
                <a:ea typeface="Urbanist"/>
                <a:cs typeface="Urbanist"/>
                <a:sym typeface="Urbanist"/>
              </a:rPr>
              <a:t>Systematic SIP Growth</a:t>
            </a:r>
            <a:endParaRPr/>
          </a:p>
        </p:txBody>
      </p:sp>
      <p:sp>
        <p:nvSpPr>
          <p:cNvPr id="352" name="Google Shape;352;p23"/>
          <p:cNvSpPr txBox="1"/>
          <p:nvPr/>
        </p:nvSpPr>
        <p:spPr>
          <a:xfrm>
            <a:off x="857250" y="2976562"/>
            <a:ext cx="504825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DM Sans"/>
                <a:ea typeface="DM Sans"/>
                <a:cs typeface="DM Sans"/>
                <a:sym typeface="DM Sans"/>
              </a:rPr>
              <a:t>SIP metrics display strong compounding behavior, proving resilient against market volatility compared to lump-sum distributions.</a:t>
            </a:r>
            <a:endParaRPr/>
          </a:p>
        </p:txBody>
      </p:sp>
      <p:sp>
        <p:nvSpPr>
          <p:cNvPr id="353" name="Google Shape;353;p23"/>
          <p:cNvSpPr txBox="1"/>
          <p:nvPr/>
        </p:nvSpPr>
        <p:spPr>
          <a:xfrm>
            <a:off x="571500" y="3500437"/>
            <a:ext cx="5600700" cy="228600"/>
          </a:xfrm>
          <a:prstGeom prst="rect">
            <a:avLst/>
          </a:prstGeom>
          <a:noFill/>
          <a:ln>
            <a:noFill/>
          </a:ln>
        </p:spPr>
        <p:txBody>
          <a:bodyPr anchorCtr="0" anchor="t" bIns="0" lIns="266700" spcFirstLastPara="1" rIns="0" wrap="square" tIns="0">
            <a:spAutoFit/>
          </a:bodyPr>
          <a:lstStyle/>
          <a:p>
            <a:pPr indent="0" lvl="0" marL="0" marR="0" rtl="0" algn="l">
              <a:spcBef>
                <a:spcPts val="0"/>
              </a:spcBef>
              <a:spcAft>
                <a:spcPts val="0"/>
              </a:spcAft>
              <a:buNone/>
            </a:pPr>
            <a:r>
              <a:rPr b="1" i="0" lang="en-US" sz="1500" u="none" cap="none" strike="noStrike">
                <a:solidFill>
                  <a:srgbClr val="10B981"/>
                </a:solidFill>
                <a:latin typeface="Urbanist"/>
                <a:ea typeface="Urbanist"/>
                <a:cs typeface="Urbanist"/>
                <a:sym typeface="Urbanist"/>
              </a:rPr>
              <a:t>Risk Mitigation</a:t>
            </a:r>
            <a:endParaRPr/>
          </a:p>
        </p:txBody>
      </p:sp>
      <p:sp>
        <p:nvSpPr>
          <p:cNvPr id="354" name="Google Shape;354;p23"/>
          <p:cNvSpPr txBox="1"/>
          <p:nvPr/>
        </p:nvSpPr>
        <p:spPr>
          <a:xfrm>
            <a:off x="857250" y="3776662"/>
            <a:ext cx="504825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DM Sans"/>
                <a:ea typeface="DM Sans"/>
                <a:cs typeface="DM Sans"/>
                <a:sym typeface="DM Sans"/>
              </a:rPr>
              <a:t>Integrating Sharpe and Sortino ratios into selection tools helps limit downside risk for retail investors by up to 14%.</a:t>
            </a:r>
            <a:endParaRPr/>
          </a:p>
        </p:txBody>
      </p:sp>
      <p:sp>
        <p:nvSpPr>
          <p:cNvPr id="355" name="Google Shape;355;p23"/>
          <p:cNvSpPr txBox="1"/>
          <p:nvPr/>
        </p:nvSpPr>
        <p:spPr>
          <a:xfrm>
            <a:off x="571500" y="4300537"/>
            <a:ext cx="5600700" cy="228600"/>
          </a:xfrm>
          <a:prstGeom prst="rect">
            <a:avLst/>
          </a:prstGeom>
          <a:noFill/>
          <a:ln>
            <a:noFill/>
          </a:ln>
        </p:spPr>
        <p:txBody>
          <a:bodyPr anchorCtr="0" anchor="t" bIns="0" lIns="266700" spcFirstLastPara="1" rIns="0" wrap="square" tIns="0">
            <a:spAutoFit/>
          </a:bodyPr>
          <a:lstStyle/>
          <a:p>
            <a:pPr indent="0" lvl="0" marL="0" marR="0" rtl="0" algn="l">
              <a:spcBef>
                <a:spcPts val="0"/>
              </a:spcBef>
              <a:spcAft>
                <a:spcPts val="0"/>
              </a:spcAft>
              <a:buNone/>
            </a:pPr>
            <a:r>
              <a:rPr b="1" i="0" lang="en-US" sz="1500" u="none" cap="none" strike="noStrike">
                <a:solidFill>
                  <a:srgbClr val="F59E0B"/>
                </a:solidFill>
                <a:latin typeface="Urbanist"/>
                <a:ea typeface="Urbanist"/>
                <a:cs typeface="Urbanist"/>
                <a:sym typeface="Urbanist"/>
              </a:rPr>
              <a:t>Strategic Allocation</a:t>
            </a:r>
            <a:endParaRPr/>
          </a:p>
        </p:txBody>
      </p:sp>
      <p:sp>
        <p:nvSpPr>
          <p:cNvPr id="356" name="Google Shape;356;p23"/>
          <p:cNvSpPr txBox="1"/>
          <p:nvPr/>
        </p:nvSpPr>
        <p:spPr>
          <a:xfrm>
            <a:off x="857250" y="4576762"/>
            <a:ext cx="504825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475569"/>
                </a:solidFill>
                <a:latin typeface="DM Sans"/>
                <a:ea typeface="DM Sans"/>
                <a:cs typeface="DM Sans"/>
                <a:sym typeface="DM Sans"/>
              </a:rPr>
              <a:t>The alpha scorecard highlights that mid-cap strategies consistently outperform broad market indexes over 3-year periods.</a:t>
            </a:r>
            <a:endParaRPr/>
          </a:p>
        </p:txBody>
      </p:sp>
      <p:pic>
        <p:nvPicPr>
          <p:cNvPr descr="image.png" id="357" name="Google Shape;357;p23"/>
          <p:cNvPicPr preferRelativeResize="0"/>
          <p:nvPr/>
        </p:nvPicPr>
        <p:blipFill rotWithShape="1">
          <a:blip r:embed="rId5">
            <a:alphaModFix/>
          </a:blip>
          <a:srcRect b="0" l="0" r="0" t="0"/>
          <a:stretch/>
        </p:blipFill>
        <p:spPr>
          <a:xfrm>
            <a:off x="571500" y="2738437"/>
            <a:ext cx="171450" cy="171450"/>
          </a:xfrm>
          <a:prstGeom prst="rect">
            <a:avLst/>
          </a:prstGeom>
          <a:noFill/>
          <a:ln>
            <a:noFill/>
          </a:ln>
        </p:spPr>
      </p:pic>
      <p:pic>
        <p:nvPicPr>
          <p:cNvPr descr="image.png" id="358" name="Google Shape;358;p23"/>
          <p:cNvPicPr preferRelativeResize="0"/>
          <p:nvPr/>
        </p:nvPicPr>
        <p:blipFill rotWithShape="1">
          <a:blip r:embed="rId6">
            <a:alphaModFix/>
          </a:blip>
          <a:srcRect b="0" l="0" r="0" t="0"/>
          <a:stretch/>
        </p:blipFill>
        <p:spPr>
          <a:xfrm>
            <a:off x="571500" y="3538537"/>
            <a:ext cx="171450" cy="171450"/>
          </a:xfrm>
          <a:prstGeom prst="rect">
            <a:avLst/>
          </a:prstGeom>
          <a:noFill/>
          <a:ln>
            <a:noFill/>
          </a:ln>
        </p:spPr>
      </p:pic>
      <p:pic>
        <p:nvPicPr>
          <p:cNvPr descr="image.png" id="359" name="Google Shape;359;p23"/>
          <p:cNvPicPr preferRelativeResize="0"/>
          <p:nvPr/>
        </p:nvPicPr>
        <p:blipFill rotWithShape="1">
          <a:blip r:embed="rId7">
            <a:alphaModFix/>
          </a:blip>
          <a:srcRect b="0" l="0" r="0" t="0"/>
          <a:stretch/>
        </p:blipFill>
        <p:spPr>
          <a:xfrm>
            <a:off x="571500" y="4338637"/>
            <a:ext cx="171450" cy="171450"/>
          </a:xfrm>
          <a:prstGeom prst="rect">
            <a:avLst/>
          </a:prstGeom>
          <a:noFill/>
          <a:ln>
            <a:noFill/>
          </a:ln>
        </p:spPr>
      </p:pic>
      <p:sp>
        <p:nvSpPr>
          <p:cNvPr id="360" name="Google Shape;360;p23"/>
          <p:cNvSpPr txBox="1"/>
          <p:nvPr/>
        </p:nvSpPr>
        <p:spPr>
          <a:xfrm>
            <a:off x="571500" y="476250"/>
            <a:ext cx="11601450" cy="4667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Urbanist"/>
                <a:ea typeface="Urbanist"/>
                <a:cs typeface="Urbanist"/>
                <a:sym typeface="Urbanist"/>
              </a:rPr>
              <a:t>PROJECT KEY TAKEAWAYS</a:t>
            </a:r>
            <a:endParaRPr/>
          </a:p>
        </p:txBody>
      </p:sp>
      <p:sp>
        <p:nvSpPr>
          <p:cNvPr id="361" name="Google Shape;361;p23"/>
          <p:cNvSpPr/>
          <p:nvPr/>
        </p:nvSpPr>
        <p:spPr>
          <a:xfrm>
            <a:off x="571500" y="1009650"/>
            <a:ext cx="11049000" cy="28575"/>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9"/>
        </a:solidFill>
      </p:bgPr>
    </p:bg>
    <p:spTree>
      <p:nvGrpSpPr>
        <p:cNvPr id="365" name="Shape 365"/>
        <p:cNvGrpSpPr/>
        <p:nvPr/>
      </p:nvGrpSpPr>
      <p:grpSpPr>
        <a:xfrm>
          <a:off x="0" y="0"/>
          <a:ext cx="0" cy="0"/>
          <a:chOff x="0" y="0"/>
          <a:chExt cx="0" cy="0"/>
        </a:xfrm>
      </p:grpSpPr>
      <p:pic>
        <p:nvPicPr>
          <p:cNvPr descr="image.png" id="366" name="Google Shape;366;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67" name="Google Shape;367;p24"/>
          <p:cNvPicPr preferRelativeResize="0"/>
          <p:nvPr/>
        </p:nvPicPr>
        <p:blipFill rotWithShape="1">
          <a:blip r:embed="rId4">
            <a:alphaModFix/>
          </a:blip>
          <a:srcRect b="0" l="0" r="0" t="0"/>
          <a:stretch/>
        </p:blipFill>
        <p:spPr>
          <a:xfrm>
            <a:off x="4495800" y="3738562"/>
            <a:ext cx="3200400" cy="1257300"/>
          </a:xfrm>
          <a:prstGeom prst="rect">
            <a:avLst/>
          </a:prstGeom>
          <a:noFill/>
          <a:ln>
            <a:noFill/>
          </a:ln>
        </p:spPr>
      </p:pic>
      <p:sp>
        <p:nvSpPr>
          <p:cNvPr id="368" name="Google Shape;368;p24"/>
          <p:cNvSpPr txBox="1"/>
          <p:nvPr/>
        </p:nvSpPr>
        <p:spPr>
          <a:xfrm>
            <a:off x="5091112" y="1881187"/>
            <a:ext cx="2009775"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10B981"/>
                </a:solidFill>
                <a:latin typeface="DM Sans"/>
                <a:ea typeface="DM Sans"/>
                <a:cs typeface="DM Sans"/>
                <a:sym typeface="DM Sans"/>
              </a:rPr>
              <a:t>END OF PRESENTATION</a:t>
            </a:r>
            <a:endParaRPr/>
          </a:p>
        </p:txBody>
      </p:sp>
      <p:sp>
        <p:nvSpPr>
          <p:cNvPr id="369" name="Google Shape;369;p24"/>
          <p:cNvSpPr txBox="1"/>
          <p:nvPr/>
        </p:nvSpPr>
        <p:spPr>
          <a:xfrm>
            <a:off x="4330779" y="2205037"/>
            <a:ext cx="3530441" cy="7334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4800" u="none" cap="none" strike="noStrike">
                <a:solidFill>
                  <a:srgbClr val="FFFFFF"/>
                </a:solidFill>
                <a:latin typeface="Urbanist ExtraBold"/>
                <a:ea typeface="Urbanist ExtraBold"/>
                <a:cs typeface="Urbanist ExtraBold"/>
                <a:sym typeface="Urbanist ExtraBold"/>
              </a:rPr>
              <a:t>Thank You!</a:t>
            </a:r>
            <a:endParaRPr/>
          </a:p>
        </p:txBody>
      </p:sp>
      <p:sp>
        <p:nvSpPr>
          <p:cNvPr id="370" name="Google Shape;370;p24"/>
          <p:cNvSpPr txBox="1"/>
          <p:nvPr/>
        </p:nvSpPr>
        <p:spPr>
          <a:xfrm>
            <a:off x="4414837" y="3081337"/>
            <a:ext cx="336232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38BDF8"/>
                </a:solidFill>
                <a:latin typeface="DM Sans"/>
                <a:ea typeface="DM Sans"/>
                <a:cs typeface="DM Sans"/>
                <a:sym typeface="DM Sans"/>
              </a:rPr>
              <a:t>Questions &amp; Academic Discussion</a:t>
            </a:r>
            <a:endParaRPr/>
          </a:p>
        </p:txBody>
      </p:sp>
      <p:sp>
        <p:nvSpPr>
          <p:cNvPr id="371" name="Google Shape;371;p24"/>
          <p:cNvSpPr txBox="1"/>
          <p:nvPr/>
        </p:nvSpPr>
        <p:spPr>
          <a:xfrm>
            <a:off x="4886325" y="3986212"/>
            <a:ext cx="2419350" cy="190500"/>
          </a:xfrm>
          <a:prstGeom prst="rect">
            <a:avLst/>
          </a:prstGeom>
          <a:noFill/>
          <a:ln>
            <a:noFill/>
          </a:ln>
        </p:spPr>
        <p:txBody>
          <a:bodyPr anchorCtr="0" anchor="t" bIns="0" lIns="219075" spcFirstLastPara="1" rIns="0" wrap="square" tIns="0">
            <a:spAutoFit/>
          </a:bodyPr>
          <a:lstStyle/>
          <a:p>
            <a:pPr indent="0" lvl="0" marL="0" marR="0" rtl="0" algn="l">
              <a:spcBef>
                <a:spcPts val="0"/>
              </a:spcBef>
              <a:spcAft>
                <a:spcPts val="0"/>
              </a:spcAft>
              <a:buNone/>
            </a:pPr>
            <a:r>
              <a:rPr b="1" i="0" lang="en-US" sz="1125" u="none" cap="none" strike="noStrike">
                <a:solidFill>
                  <a:srgbClr val="94A3B8"/>
                </a:solidFill>
                <a:latin typeface="DM Sans"/>
                <a:ea typeface="DM Sans"/>
                <a:cs typeface="DM Sans"/>
                <a:sym typeface="DM Sans"/>
              </a:rPr>
              <a:t>Presenter:</a:t>
            </a:r>
            <a:r>
              <a:rPr b="0" i="0" lang="en-US" sz="1125" u="none" cap="none" strike="noStrike">
                <a:solidFill>
                  <a:srgbClr val="94A3B8"/>
                </a:solidFill>
                <a:latin typeface="DM Sans"/>
                <a:ea typeface="DM Sans"/>
                <a:cs typeface="DM Sans"/>
                <a:sym typeface="DM Sans"/>
              </a:rPr>
              <a:t> Siddhi Kumbhar</a:t>
            </a:r>
            <a:endParaRPr/>
          </a:p>
        </p:txBody>
      </p:sp>
      <p:sp>
        <p:nvSpPr>
          <p:cNvPr id="372" name="Google Shape;372;p24"/>
          <p:cNvSpPr txBox="1"/>
          <p:nvPr/>
        </p:nvSpPr>
        <p:spPr>
          <a:xfrm>
            <a:off x="4886325" y="4271962"/>
            <a:ext cx="2419350" cy="190500"/>
          </a:xfrm>
          <a:prstGeom prst="rect">
            <a:avLst/>
          </a:prstGeom>
          <a:noFill/>
          <a:ln>
            <a:noFill/>
          </a:ln>
        </p:spPr>
        <p:txBody>
          <a:bodyPr anchorCtr="0" anchor="t" bIns="0" lIns="238125" spcFirstLastPara="1" rIns="0" wrap="square" tIns="0">
            <a:spAutoFit/>
          </a:bodyPr>
          <a:lstStyle/>
          <a:p>
            <a:pPr indent="0" lvl="0" marL="0" marR="0" rtl="0" algn="l">
              <a:spcBef>
                <a:spcPts val="0"/>
              </a:spcBef>
              <a:spcAft>
                <a:spcPts val="0"/>
              </a:spcAft>
              <a:buNone/>
            </a:pPr>
            <a:r>
              <a:rPr b="1" i="0" lang="en-US" sz="1125" u="none" cap="none" strike="noStrike">
                <a:solidFill>
                  <a:srgbClr val="94A3B8"/>
                </a:solidFill>
                <a:latin typeface="DM Sans"/>
                <a:ea typeface="DM Sans"/>
                <a:cs typeface="DM Sans"/>
                <a:sym typeface="DM Sans"/>
              </a:rPr>
              <a:t>Role:</a:t>
            </a:r>
            <a:r>
              <a:rPr b="0" i="0" lang="en-US" sz="1125" u="none" cap="none" strike="noStrike">
                <a:solidFill>
                  <a:srgbClr val="94A3B8"/>
                </a:solidFill>
                <a:latin typeface="DM Sans"/>
                <a:ea typeface="DM Sans"/>
                <a:cs typeface="DM Sans"/>
                <a:sym typeface="DM Sans"/>
              </a:rPr>
              <a:t> Bluestock Analytics Intern</a:t>
            </a:r>
            <a:endParaRPr/>
          </a:p>
        </p:txBody>
      </p:sp>
      <p:sp>
        <p:nvSpPr>
          <p:cNvPr id="373" name="Google Shape;373;p24"/>
          <p:cNvSpPr txBox="1"/>
          <p:nvPr/>
        </p:nvSpPr>
        <p:spPr>
          <a:xfrm>
            <a:off x="4886325" y="4557712"/>
            <a:ext cx="2419350" cy="190500"/>
          </a:xfrm>
          <a:prstGeom prst="rect">
            <a:avLst/>
          </a:prstGeom>
          <a:noFill/>
          <a:ln>
            <a:noFill/>
          </a:ln>
        </p:spPr>
        <p:txBody>
          <a:bodyPr anchorCtr="0" anchor="t" bIns="0" lIns="238125" spcFirstLastPara="1" rIns="0" wrap="square" tIns="0">
            <a:spAutoFit/>
          </a:bodyPr>
          <a:lstStyle/>
          <a:p>
            <a:pPr indent="0" lvl="0" marL="0" marR="0" rtl="0" algn="l">
              <a:spcBef>
                <a:spcPts val="0"/>
              </a:spcBef>
              <a:spcAft>
                <a:spcPts val="0"/>
              </a:spcAft>
              <a:buNone/>
            </a:pPr>
            <a:r>
              <a:rPr b="1" i="0" lang="en-US" sz="1125" u="none" cap="none" strike="noStrike">
                <a:solidFill>
                  <a:srgbClr val="94A3B8"/>
                </a:solidFill>
                <a:latin typeface="DM Sans"/>
                <a:ea typeface="DM Sans"/>
                <a:cs typeface="DM Sans"/>
                <a:sym typeface="DM Sans"/>
              </a:rPr>
              <a:t>Inquiries:</a:t>
            </a:r>
            <a:r>
              <a:rPr b="0" i="0" lang="en-US" sz="1125" u="none" cap="none" strike="noStrike">
                <a:solidFill>
                  <a:srgbClr val="94A3B8"/>
                </a:solidFill>
                <a:latin typeface="DM Sans"/>
                <a:ea typeface="DM Sans"/>
                <a:cs typeface="DM Sans"/>
                <a:sym typeface="DM Sans"/>
              </a:rPr>
              <a:t> info@bluestock.in</a:t>
            </a:r>
            <a:endParaRPr/>
          </a:p>
        </p:txBody>
      </p:sp>
      <p:pic>
        <p:nvPicPr>
          <p:cNvPr descr="image.png" id="374" name="Google Shape;374;p24"/>
          <p:cNvPicPr preferRelativeResize="0"/>
          <p:nvPr/>
        </p:nvPicPr>
        <p:blipFill rotWithShape="1">
          <a:blip r:embed="rId5">
            <a:alphaModFix/>
          </a:blip>
          <a:srcRect b="0" l="0" r="0" t="0"/>
          <a:stretch/>
        </p:blipFill>
        <p:spPr>
          <a:xfrm>
            <a:off x="4886325" y="4005262"/>
            <a:ext cx="123825" cy="142875"/>
          </a:xfrm>
          <a:prstGeom prst="rect">
            <a:avLst/>
          </a:prstGeom>
          <a:noFill/>
          <a:ln>
            <a:noFill/>
          </a:ln>
        </p:spPr>
      </p:pic>
      <p:pic>
        <p:nvPicPr>
          <p:cNvPr descr="image.png" id="375" name="Google Shape;375;p24"/>
          <p:cNvPicPr preferRelativeResize="0"/>
          <p:nvPr/>
        </p:nvPicPr>
        <p:blipFill rotWithShape="1">
          <a:blip r:embed="rId6">
            <a:alphaModFix/>
          </a:blip>
          <a:srcRect b="0" l="0" r="0" t="0"/>
          <a:stretch/>
        </p:blipFill>
        <p:spPr>
          <a:xfrm>
            <a:off x="4886325" y="4291012"/>
            <a:ext cx="142875" cy="142875"/>
          </a:xfrm>
          <a:prstGeom prst="rect">
            <a:avLst/>
          </a:prstGeom>
          <a:noFill/>
          <a:ln>
            <a:noFill/>
          </a:ln>
        </p:spPr>
      </p:pic>
      <p:pic>
        <p:nvPicPr>
          <p:cNvPr descr="image.png" id="376" name="Google Shape;376;p24"/>
          <p:cNvPicPr preferRelativeResize="0"/>
          <p:nvPr/>
        </p:nvPicPr>
        <p:blipFill rotWithShape="1">
          <a:blip r:embed="rId7">
            <a:alphaModFix/>
          </a:blip>
          <a:srcRect b="0" l="0" r="0" t="0"/>
          <a:stretch/>
        </p:blipFill>
        <p:spPr>
          <a:xfrm>
            <a:off x="4886325" y="4576762"/>
            <a:ext cx="142875" cy="142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